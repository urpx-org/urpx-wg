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0" y="1371600"/>
            <a:ext cx="4572000" cy="1143000"/>
          </a:xfrm>
          <a:prstGeom prst="rect">
            <a:avLst/>
          </a:prstGeom>
        </p:spPr>
      </p:pic>
      <p:sp>
        <p:nvSpPr>
          <p:cNvPr id="3" name="Text 0"/>
          <p:cNvSpPr/>
          <p:nvPr/>
        </p:nvSpPr>
        <p:spPr>
          <a:xfrm>
            <a:off x="457200" y="2926080"/>
            <a:ext cx="8229600" cy="731520"/>
          </a:xfrm>
          <a:prstGeom prst="rect">
            <a:avLst/>
          </a:prstGeom>
          <a:noFill/>
          <a:ln/>
        </p:spPr>
        <p:txBody>
          <a:bodyPr wrap="square" rtlCol="0" anchor="ctr"/>
          <a:lstStyle/>
          <a:p>
            <a:pPr algn="ctr" indent="0" marL="0">
              <a:buNone/>
            </a:pPr>
            <a:r>
              <a:rPr lang="en-US" sz="4400" dirty="0">
                <a:solidFill>
                  <a:srgbClr val="FFFFFF"/>
                </a:solidFill>
                <a:latin typeface="Arial" pitchFamily="34" charset="0"/>
                <a:ea typeface="Arial" pitchFamily="34" charset="-122"/>
                <a:cs typeface="Arial" pitchFamily="34" charset="-120"/>
              </a:rPr>
              <a:t>Brand Guidelines</a:t>
            </a:r>
            <a:endParaRPr lang="en-US" sz="4400" dirty="0"/>
          </a:p>
        </p:txBody>
      </p:sp>
      <p:sp>
        <p:nvSpPr>
          <p:cNvPr id="4" name="Text 1"/>
          <p:cNvSpPr/>
          <p:nvPr/>
        </p:nvSpPr>
        <p:spPr>
          <a:xfrm>
            <a:off x="457200" y="3749040"/>
            <a:ext cx="8229600" cy="457200"/>
          </a:xfrm>
          <a:prstGeom prst="rect">
            <a:avLst/>
          </a:prstGeom>
          <a:noFill/>
          <a:ln/>
        </p:spPr>
        <p:txBody>
          <a:bodyPr wrap="square" rtlCol="0" anchor="ctr"/>
          <a:lstStyle/>
          <a:p>
            <a:pPr algn="ctr" indent="0" marL="0">
              <a:buNone/>
            </a:pPr>
            <a:r>
              <a:rPr lang="en-US" sz="1800" i="1" dirty="0">
                <a:solidFill>
                  <a:srgbClr val="44BB99"/>
                </a:solidFill>
                <a:latin typeface="Arial" pitchFamily="34" charset="0"/>
                <a:ea typeface="Arial" pitchFamily="34" charset="-122"/>
                <a:cs typeface="Arial" pitchFamily="34" charset="-120"/>
              </a:rPr>
              <a:t>The semantic switchboard for utility rate plan data</a:t>
            </a:r>
            <a:endParaRPr lang="en-US" sz="1800" dirty="0"/>
          </a:p>
        </p:txBody>
      </p:sp>
      <p:sp>
        <p:nvSpPr>
          <p:cNvPr id="5" name="Text 2"/>
          <p:cNvSpPr/>
          <p:nvPr/>
        </p:nvSpPr>
        <p:spPr>
          <a:xfrm>
            <a:off x="457200" y="4663440"/>
            <a:ext cx="8229600" cy="274320"/>
          </a:xfrm>
          <a:prstGeom prst="rect">
            <a:avLst/>
          </a:prstGeom>
          <a:noFill/>
          <a:ln/>
        </p:spPr>
        <p:txBody>
          <a:bodyPr wrap="square" rtlCol="0" anchor="ctr"/>
          <a:lstStyle/>
          <a:p>
            <a:pPr algn="ctr" indent="0" marL="0">
              <a:buNone/>
            </a:pPr>
            <a:r>
              <a:rPr lang="en-US" sz="1100" dirty="0">
                <a:solidFill>
                  <a:srgbClr val="64748B"/>
                </a:solidFill>
                <a:latin typeface="Arial" pitchFamily="34" charset="0"/>
                <a:ea typeface="Arial" pitchFamily="34" charset="-122"/>
                <a:cs typeface="Arial" pitchFamily="34" charset="-120"/>
              </a:rPr>
              <a:t>Version 1.0 · January 2026 · LF Energy Standards and Specifications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3200" b="1" dirty="0">
                <a:solidFill>
                  <a:srgbClr val="1E293B"/>
                </a:solidFill>
                <a:latin typeface="Arial" pitchFamily="34" charset="0"/>
                <a:ea typeface="Arial" pitchFamily="34" charset="-122"/>
                <a:cs typeface="Arial" pitchFamily="34" charset="-120"/>
              </a:rPr>
              <a:t>Mission &amp; Brand Overview</a:t>
            </a:r>
            <a:endParaRPr lang="en-US" sz="3200" dirty="0"/>
          </a:p>
        </p:txBody>
      </p:sp>
      <p:sp>
        <p:nvSpPr>
          <p:cNvPr id="3" name="Shape 1"/>
          <p:cNvSpPr/>
          <p:nvPr/>
        </p:nvSpPr>
        <p:spPr>
          <a:xfrm>
            <a:off x="457200" y="1097280"/>
            <a:ext cx="8229600" cy="1188720"/>
          </a:xfrm>
          <a:prstGeom prst="rect">
            <a:avLst/>
          </a:prstGeom>
          <a:solidFill>
            <a:srgbClr val="F8FAFC"/>
          </a:solidFill>
          <a:ln/>
        </p:spPr>
      </p:sp>
      <p:sp>
        <p:nvSpPr>
          <p:cNvPr id="4" name="Text 2"/>
          <p:cNvSpPr/>
          <p:nvPr/>
        </p:nvSpPr>
        <p:spPr>
          <a:xfrm>
            <a:off x="640080" y="1188720"/>
            <a:ext cx="7863840" cy="320040"/>
          </a:xfrm>
          <a:prstGeom prst="rect">
            <a:avLst/>
          </a:prstGeom>
          <a:noFill/>
          <a:ln/>
        </p:spPr>
        <p:txBody>
          <a:bodyPr wrap="square" rtlCol="0" anchor="ctr"/>
          <a:lstStyle/>
          <a:p>
            <a:pPr indent="0" marL="0">
              <a:buNone/>
            </a:pPr>
            <a:r>
              <a:rPr lang="en-US" sz="1400" b="1" dirty="0">
                <a:solidFill>
                  <a:srgbClr val="44BB99"/>
                </a:solidFill>
                <a:latin typeface="Arial" pitchFamily="34" charset="0"/>
                <a:ea typeface="Arial" pitchFamily="34" charset="-122"/>
                <a:cs typeface="Arial" pitchFamily="34" charset="-120"/>
              </a:rPr>
              <a:t>Mission</a:t>
            </a:r>
            <a:endParaRPr lang="en-US" sz="1400" dirty="0"/>
          </a:p>
        </p:txBody>
      </p:sp>
      <p:sp>
        <p:nvSpPr>
          <p:cNvPr id="5" name="Text 3"/>
          <p:cNvSpPr/>
          <p:nvPr/>
        </p:nvSpPr>
        <p:spPr>
          <a:xfrm>
            <a:off x="640080" y="1508760"/>
            <a:ext cx="7863840" cy="640080"/>
          </a:xfrm>
          <a:prstGeom prst="rect">
            <a:avLst/>
          </a:prstGeom>
          <a:noFill/>
          <a:ln/>
        </p:spPr>
        <p:txBody>
          <a:bodyPr wrap="square" rtlCol="0" anchor="ctr"/>
          <a:lstStyle/>
          <a:p>
            <a:pPr indent="0" marL="0">
              <a:buNone/>
            </a:pPr>
            <a:r>
              <a:rPr lang="en-US" sz="1400" dirty="0">
                <a:solidFill>
                  <a:srgbClr val="1E293B"/>
                </a:solidFill>
                <a:latin typeface="Arial" pitchFamily="34" charset="0"/>
                <a:ea typeface="Arial" pitchFamily="34" charset="-122"/>
                <a:cs typeface="Arial" pitchFamily="34" charset="-120"/>
              </a:rPr>
              <a:t>Promote market competition, affordability, transparency, and innovation in the energy sector by introducing an open standard for the exchange and publication of machine-readable utility rate plan data.</a:t>
            </a:r>
            <a:endParaRPr lang="en-US" sz="1400" dirty="0"/>
          </a:p>
        </p:txBody>
      </p:sp>
      <p:sp>
        <p:nvSpPr>
          <p:cNvPr id="6" name="Text 4"/>
          <p:cNvSpPr/>
          <p:nvPr/>
        </p:nvSpPr>
        <p:spPr>
          <a:xfrm>
            <a:off x="457200" y="2468880"/>
            <a:ext cx="3657600" cy="320040"/>
          </a:xfrm>
          <a:prstGeom prst="rect">
            <a:avLst/>
          </a:prstGeom>
          <a:noFill/>
          <a:ln/>
        </p:spPr>
        <p:txBody>
          <a:bodyPr wrap="square" rtlCol="0" anchor="ctr"/>
          <a:lstStyle/>
          <a:p>
            <a:pPr indent="0" marL="0">
              <a:buNone/>
            </a:pPr>
            <a:r>
              <a:rPr lang="en-US" sz="1400" b="1" dirty="0">
                <a:solidFill>
                  <a:srgbClr val="44BB99"/>
                </a:solidFill>
                <a:latin typeface="Arial" pitchFamily="34" charset="0"/>
                <a:ea typeface="Arial" pitchFamily="34" charset="-122"/>
                <a:cs typeface="Arial" pitchFamily="34" charset="-120"/>
              </a:rPr>
              <a:t>Brand Traits</a:t>
            </a:r>
            <a:endParaRPr lang="en-US" sz="1400" dirty="0"/>
          </a:p>
        </p:txBody>
      </p:sp>
      <p:sp>
        <p:nvSpPr>
          <p:cNvPr id="7" name="Shape 5"/>
          <p:cNvSpPr/>
          <p:nvPr/>
        </p:nvSpPr>
        <p:spPr>
          <a:xfrm>
            <a:off x="457200" y="2907792"/>
            <a:ext cx="164592" cy="164592"/>
          </a:xfrm>
          <a:prstGeom prst="ellipse">
            <a:avLst/>
          </a:prstGeom>
          <a:solidFill>
            <a:srgbClr val="44BB99"/>
          </a:solidFill>
          <a:ln/>
        </p:spPr>
      </p:sp>
      <p:sp>
        <p:nvSpPr>
          <p:cNvPr id="8" name="Text 6"/>
          <p:cNvSpPr/>
          <p:nvPr/>
        </p:nvSpPr>
        <p:spPr>
          <a:xfrm>
            <a:off x="731520" y="2834640"/>
            <a:ext cx="1371600" cy="320040"/>
          </a:xfrm>
          <a:prstGeom prst="rect">
            <a:avLst/>
          </a:prstGeom>
          <a:noFill/>
          <a:ln/>
        </p:spPr>
        <p:txBody>
          <a:bodyPr wrap="square" rtlCol="0" anchor="ctr"/>
          <a:lstStyle/>
          <a:p>
            <a:pPr indent="0" marL="0">
              <a:buNone/>
            </a:pPr>
            <a:r>
              <a:rPr lang="en-US" sz="1300" b="1" dirty="0">
                <a:solidFill>
                  <a:srgbClr val="1E293B"/>
                </a:solidFill>
                <a:latin typeface="Arial" pitchFamily="34" charset="0"/>
                <a:ea typeface="Arial" pitchFamily="34" charset="-122"/>
                <a:cs typeface="Arial" pitchFamily="34" charset="-120"/>
              </a:rPr>
              <a:t>Transparent</a:t>
            </a:r>
            <a:endParaRPr lang="en-US" sz="1300" dirty="0"/>
          </a:p>
        </p:txBody>
      </p:sp>
      <p:sp>
        <p:nvSpPr>
          <p:cNvPr id="9" name="Text 7"/>
          <p:cNvSpPr/>
          <p:nvPr/>
        </p:nvSpPr>
        <p:spPr>
          <a:xfrm>
            <a:off x="2103120" y="2834640"/>
            <a:ext cx="2286000" cy="32004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Open data, clear structures</a:t>
            </a:r>
            <a:endParaRPr lang="en-US" sz="1200" dirty="0"/>
          </a:p>
        </p:txBody>
      </p:sp>
      <p:sp>
        <p:nvSpPr>
          <p:cNvPr id="10" name="Shape 8"/>
          <p:cNvSpPr/>
          <p:nvPr/>
        </p:nvSpPr>
        <p:spPr>
          <a:xfrm>
            <a:off x="457200" y="3410712"/>
            <a:ext cx="164592" cy="164592"/>
          </a:xfrm>
          <a:prstGeom prst="ellipse">
            <a:avLst/>
          </a:prstGeom>
          <a:solidFill>
            <a:srgbClr val="44BB99"/>
          </a:solidFill>
          <a:ln/>
        </p:spPr>
      </p:sp>
      <p:sp>
        <p:nvSpPr>
          <p:cNvPr id="11" name="Text 9"/>
          <p:cNvSpPr/>
          <p:nvPr/>
        </p:nvSpPr>
        <p:spPr>
          <a:xfrm>
            <a:off x="731520" y="3337560"/>
            <a:ext cx="1371600" cy="320040"/>
          </a:xfrm>
          <a:prstGeom prst="rect">
            <a:avLst/>
          </a:prstGeom>
          <a:noFill/>
          <a:ln/>
        </p:spPr>
        <p:txBody>
          <a:bodyPr wrap="square" rtlCol="0" anchor="ctr"/>
          <a:lstStyle/>
          <a:p>
            <a:pPr indent="0" marL="0">
              <a:buNone/>
            </a:pPr>
            <a:r>
              <a:rPr lang="en-US" sz="1300" b="1" dirty="0">
                <a:solidFill>
                  <a:srgbClr val="1E293B"/>
                </a:solidFill>
                <a:latin typeface="Arial" pitchFamily="34" charset="0"/>
                <a:ea typeface="Arial" pitchFamily="34" charset="-122"/>
                <a:cs typeface="Arial" pitchFamily="34" charset="-120"/>
              </a:rPr>
              <a:t>Interoperable</a:t>
            </a:r>
            <a:endParaRPr lang="en-US" sz="1300" dirty="0"/>
          </a:p>
        </p:txBody>
      </p:sp>
      <p:sp>
        <p:nvSpPr>
          <p:cNvPr id="12" name="Text 10"/>
          <p:cNvSpPr/>
          <p:nvPr/>
        </p:nvSpPr>
        <p:spPr>
          <a:xfrm>
            <a:off x="2103120" y="3337560"/>
            <a:ext cx="2286000" cy="32004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Works across systems</a:t>
            </a:r>
            <a:endParaRPr lang="en-US" sz="1200" dirty="0"/>
          </a:p>
        </p:txBody>
      </p:sp>
      <p:sp>
        <p:nvSpPr>
          <p:cNvPr id="13" name="Shape 11"/>
          <p:cNvSpPr/>
          <p:nvPr/>
        </p:nvSpPr>
        <p:spPr>
          <a:xfrm>
            <a:off x="457200" y="3913632"/>
            <a:ext cx="164592" cy="164592"/>
          </a:xfrm>
          <a:prstGeom prst="ellipse">
            <a:avLst/>
          </a:prstGeom>
          <a:solidFill>
            <a:srgbClr val="44BB99"/>
          </a:solidFill>
          <a:ln/>
        </p:spPr>
      </p:sp>
      <p:sp>
        <p:nvSpPr>
          <p:cNvPr id="14" name="Text 12"/>
          <p:cNvSpPr/>
          <p:nvPr/>
        </p:nvSpPr>
        <p:spPr>
          <a:xfrm>
            <a:off x="731520" y="3840480"/>
            <a:ext cx="1371600" cy="320040"/>
          </a:xfrm>
          <a:prstGeom prst="rect">
            <a:avLst/>
          </a:prstGeom>
          <a:noFill/>
          <a:ln/>
        </p:spPr>
        <p:txBody>
          <a:bodyPr wrap="square" rtlCol="0" anchor="ctr"/>
          <a:lstStyle/>
          <a:p>
            <a:pPr indent="0" marL="0">
              <a:buNone/>
            </a:pPr>
            <a:r>
              <a:rPr lang="en-US" sz="1300" b="1" dirty="0">
                <a:solidFill>
                  <a:srgbClr val="1E293B"/>
                </a:solidFill>
                <a:latin typeface="Arial" pitchFamily="34" charset="0"/>
                <a:ea typeface="Arial" pitchFamily="34" charset="-122"/>
                <a:cs typeface="Arial" pitchFamily="34" charset="-120"/>
              </a:rPr>
              <a:t>Trustworthy</a:t>
            </a:r>
            <a:endParaRPr lang="en-US" sz="1300" dirty="0"/>
          </a:p>
        </p:txBody>
      </p:sp>
      <p:sp>
        <p:nvSpPr>
          <p:cNvPr id="15" name="Text 13"/>
          <p:cNvSpPr/>
          <p:nvPr/>
        </p:nvSpPr>
        <p:spPr>
          <a:xfrm>
            <a:off x="2103120" y="3840480"/>
            <a:ext cx="2286000" cy="32004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Reliable, validated, governed</a:t>
            </a:r>
            <a:endParaRPr lang="en-US" sz="1200" dirty="0"/>
          </a:p>
        </p:txBody>
      </p:sp>
      <p:sp>
        <p:nvSpPr>
          <p:cNvPr id="16" name="Shape 14"/>
          <p:cNvSpPr/>
          <p:nvPr/>
        </p:nvSpPr>
        <p:spPr>
          <a:xfrm>
            <a:off x="4572000" y="2907792"/>
            <a:ext cx="164592" cy="164592"/>
          </a:xfrm>
          <a:prstGeom prst="ellipse">
            <a:avLst/>
          </a:prstGeom>
          <a:solidFill>
            <a:srgbClr val="44BB99"/>
          </a:solidFill>
          <a:ln/>
        </p:spPr>
      </p:sp>
      <p:sp>
        <p:nvSpPr>
          <p:cNvPr id="17" name="Text 15"/>
          <p:cNvSpPr/>
          <p:nvPr/>
        </p:nvSpPr>
        <p:spPr>
          <a:xfrm>
            <a:off x="4846320" y="2834640"/>
            <a:ext cx="1371600" cy="320040"/>
          </a:xfrm>
          <a:prstGeom prst="rect">
            <a:avLst/>
          </a:prstGeom>
          <a:noFill/>
          <a:ln/>
        </p:spPr>
        <p:txBody>
          <a:bodyPr wrap="square" rtlCol="0" anchor="ctr"/>
          <a:lstStyle/>
          <a:p>
            <a:pPr indent="0" marL="0">
              <a:buNone/>
            </a:pPr>
            <a:r>
              <a:rPr lang="en-US" sz="1300" b="1" dirty="0">
                <a:solidFill>
                  <a:srgbClr val="1E293B"/>
                </a:solidFill>
                <a:latin typeface="Arial" pitchFamily="34" charset="0"/>
                <a:ea typeface="Arial" pitchFamily="34" charset="-122"/>
                <a:cs typeface="Arial" pitchFamily="34" charset="-120"/>
              </a:rPr>
              <a:t>Modern</a:t>
            </a:r>
            <a:endParaRPr lang="en-US" sz="1300" dirty="0"/>
          </a:p>
        </p:txBody>
      </p:sp>
      <p:sp>
        <p:nvSpPr>
          <p:cNvPr id="18" name="Text 16"/>
          <p:cNvSpPr/>
          <p:nvPr/>
        </p:nvSpPr>
        <p:spPr>
          <a:xfrm>
            <a:off x="6217920" y="2834640"/>
            <a:ext cx="2286000" cy="32004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Semantic web technologies</a:t>
            </a:r>
            <a:endParaRPr lang="en-US" sz="1200" dirty="0"/>
          </a:p>
        </p:txBody>
      </p:sp>
      <p:sp>
        <p:nvSpPr>
          <p:cNvPr id="19" name="Shape 17"/>
          <p:cNvSpPr/>
          <p:nvPr/>
        </p:nvSpPr>
        <p:spPr>
          <a:xfrm>
            <a:off x="4572000" y="3410712"/>
            <a:ext cx="164592" cy="164592"/>
          </a:xfrm>
          <a:prstGeom prst="ellipse">
            <a:avLst/>
          </a:prstGeom>
          <a:solidFill>
            <a:srgbClr val="44BB99"/>
          </a:solidFill>
          <a:ln/>
        </p:spPr>
      </p:sp>
      <p:sp>
        <p:nvSpPr>
          <p:cNvPr id="20" name="Text 18"/>
          <p:cNvSpPr/>
          <p:nvPr/>
        </p:nvSpPr>
        <p:spPr>
          <a:xfrm>
            <a:off x="4846320" y="3337560"/>
            <a:ext cx="1371600" cy="320040"/>
          </a:xfrm>
          <a:prstGeom prst="rect">
            <a:avLst/>
          </a:prstGeom>
          <a:noFill/>
          <a:ln/>
        </p:spPr>
        <p:txBody>
          <a:bodyPr wrap="square" rtlCol="0" anchor="ctr"/>
          <a:lstStyle/>
          <a:p>
            <a:pPr indent="0" marL="0">
              <a:buNone/>
            </a:pPr>
            <a:r>
              <a:rPr lang="en-US" sz="1300" b="1" dirty="0">
                <a:solidFill>
                  <a:srgbClr val="1E293B"/>
                </a:solidFill>
                <a:latin typeface="Arial" pitchFamily="34" charset="0"/>
                <a:ea typeface="Arial" pitchFamily="34" charset="-122"/>
                <a:cs typeface="Arial" pitchFamily="34" charset="-120"/>
              </a:rPr>
              <a:t>Community-driven</a:t>
            </a:r>
            <a:endParaRPr lang="en-US" sz="1300" dirty="0"/>
          </a:p>
        </p:txBody>
      </p:sp>
      <p:sp>
        <p:nvSpPr>
          <p:cNvPr id="21" name="Text 19"/>
          <p:cNvSpPr/>
          <p:nvPr/>
        </p:nvSpPr>
        <p:spPr>
          <a:xfrm>
            <a:off x="6217920" y="3337560"/>
            <a:ext cx="2286000" cy="32004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Open collaboration</a:t>
            </a:r>
            <a:endParaRPr lang="en-US" sz="1200" dirty="0"/>
          </a:p>
        </p:txBody>
      </p:sp>
      <p:sp>
        <p:nvSpPr>
          <p:cNvPr id="22" name="Text 20"/>
          <p:cNvSpPr/>
          <p:nvPr/>
        </p:nvSpPr>
        <p:spPr>
          <a:xfrm>
            <a:off x="457200" y="4389120"/>
            <a:ext cx="8229600" cy="320040"/>
          </a:xfrm>
          <a:prstGeom prst="rect">
            <a:avLst/>
          </a:prstGeom>
          <a:noFill/>
          <a:ln/>
        </p:spPr>
        <p:txBody>
          <a:bodyPr wrap="square" rtlCol="0" anchor="ctr"/>
          <a:lstStyle/>
          <a:p>
            <a:pPr indent="0" marL="0">
              <a:buNone/>
            </a:pPr>
            <a:r>
              <a:rPr lang="en-US" sz="1400" b="1" dirty="0">
                <a:solidFill>
                  <a:srgbClr val="44BB99"/>
                </a:solidFill>
                <a:latin typeface="Arial" pitchFamily="34" charset="0"/>
                <a:ea typeface="Arial" pitchFamily="34" charset="-122"/>
                <a:cs typeface="Arial" pitchFamily="34" charset="-120"/>
              </a:rPr>
              <a:t>Target Audience</a:t>
            </a:r>
            <a:endParaRPr lang="en-US" sz="1400" dirty="0"/>
          </a:p>
        </p:txBody>
      </p:sp>
      <p:sp>
        <p:nvSpPr>
          <p:cNvPr id="23" name="Text 21"/>
          <p:cNvSpPr/>
          <p:nvPr/>
        </p:nvSpPr>
        <p:spPr>
          <a:xfrm>
            <a:off x="457200" y="4709160"/>
            <a:ext cx="8229600" cy="320040"/>
          </a:xfrm>
          <a:prstGeom prst="rect">
            <a:avLst/>
          </a:prstGeom>
          <a:noFill/>
          <a:ln/>
        </p:spPr>
        <p:txBody>
          <a:bodyPr wrap="square" rtlCol="0" anchor="ctr"/>
          <a:lstStyle/>
          <a:p>
            <a:pPr indent="0" marL="0">
              <a:buNone/>
            </a:pPr>
            <a:r>
              <a:rPr lang="en-US" sz="1200" dirty="0">
                <a:solidFill>
                  <a:srgbClr val="1E293B"/>
                </a:solidFill>
                <a:latin typeface="Arial" pitchFamily="34" charset="0"/>
                <a:ea typeface="Arial" pitchFamily="34" charset="-122"/>
                <a:cs typeface="Arial" pitchFamily="34" charset="-120"/>
              </a:rPr>
              <a:t>Regulators · Software Developers · Utilities · Energy Service Providers · Researchers · Consumer Advocates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3200" b="1" dirty="0">
                <a:solidFill>
                  <a:srgbClr val="1E293B"/>
                </a:solidFill>
                <a:latin typeface="Arial" pitchFamily="34" charset="0"/>
                <a:ea typeface="Arial" pitchFamily="34" charset="-122"/>
                <a:cs typeface="Arial" pitchFamily="34" charset="-120"/>
              </a:rPr>
              <a:t>Logo Concepts</a:t>
            </a:r>
            <a:endParaRPr lang="en-US" sz="3200" dirty="0"/>
          </a:p>
        </p:txBody>
      </p:sp>
      <p:sp>
        <p:nvSpPr>
          <p:cNvPr id="3" name="Text 1"/>
          <p:cNvSpPr/>
          <p:nvPr/>
        </p:nvSpPr>
        <p:spPr>
          <a:xfrm>
            <a:off x="457200" y="914400"/>
            <a:ext cx="8229600" cy="365760"/>
          </a:xfrm>
          <a:prstGeom prst="rect">
            <a:avLst/>
          </a:prstGeom>
          <a:noFill/>
          <a:ln/>
        </p:spPr>
        <p:txBody>
          <a:bodyPr wrap="square" rtlCol="0" anchor="ctr"/>
          <a:lstStyle/>
          <a:p>
            <a:pPr indent="0" marL="0">
              <a:buNone/>
            </a:pPr>
            <a:r>
              <a:rPr lang="en-US" sz="1300" i="1" dirty="0">
                <a:solidFill>
                  <a:srgbClr val="64748B"/>
                </a:solidFill>
                <a:latin typeface="Arial" pitchFamily="34" charset="0"/>
                <a:ea typeface="Arial" pitchFamily="34" charset="-122"/>
                <a:cs typeface="Arial" pitchFamily="34" charset="-120"/>
              </a:rPr>
              <a:t>"Connected Smile" — nodes and edges forming a U-shape, representing rate plan data concepts connecting harmoniously.</a:t>
            </a:r>
            <a:endParaRPr lang="en-US" sz="1300" dirty="0"/>
          </a:p>
        </p:txBody>
      </p:sp>
      <p:sp>
        <p:nvSpPr>
          <p:cNvPr id="4" name="Shape 2"/>
          <p:cNvSpPr/>
          <p:nvPr/>
        </p:nvSpPr>
        <p:spPr>
          <a:xfrm>
            <a:off x="457200" y="1463040"/>
            <a:ext cx="2560320" cy="2011680"/>
          </a:xfrm>
          <a:prstGeom prst="rect">
            <a:avLst/>
          </a:prstGeom>
          <a:solidFill>
            <a:srgbClr val="F8FAFC"/>
          </a:solidFill>
          <a:ln/>
        </p:spPr>
      </p:sp>
      <p:pic>
        <p:nvPicPr>
          <p:cNvPr id="5" name="Image 0" descr="preencoded.png">    </p:cNvPr>
          <p:cNvPicPr>
            <a:picLocks noChangeAspect="1"/>
          </p:cNvPicPr>
          <p:nvPr/>
        </p:nvPicPr>
        <p:blipFill>
          <a:blip r:embed="rId1"/>
          <a:stretch>
            <a:fillRect/>
          </a:stretch>
        </p:blipFill>
        <p:spPr>
          <a:xfrm>
            <a:off x="640080" y="1645920"/>
            <a:ext cx="2194560" cy="1280160"/>
          </a:xfrm>
          <a:prstGeom prst="rect">
            <a:avLst/>
          </a:prstGeom>
        </p:spPr>
      </p:pic>
      <p:sp>
        <p:nvSpPr>
          <p:cNvPr id="6" name="Text 3"/>
          <p:cNvSpPr/>
          <p:nvPr/>
        </p:nvSpPr>
        <p:spPr>
          <a:xfrm>
            <a:off x="457200" y="3017520"/>
            <a:ext cx="2560320" cy="274320"/>
          </a:xfrm>
          <a:prstGeom prst="rect">
            <a:avLst/>
          </a:prstGeom>
          <a:noFill/>
          <a:ln/>
        </p:spPr>
        <p:txBody>
          <a:bodyPr wrap="square" rtlCol="0" anchor="ctr"/>
          <a:lstStyle/>
          <a:p>
            <a:pPr algn="ctr" indent="0" marL="0">
              <a:buNone/>
            </a:pPr>
            <a:r>
              <a:rPr lang="en-US" sz="1100" b="1" dirty="0">
                <a:solidFill>
                  <a:srgbClr val="1E293B"/>
                </a:solidFill>
                <a:latin typeface="Arial" pitchFamily="34" charset="0"/>
                <a:ea typeface="Arial" pitchFamily="34" charset="-122"/>
                <a:cs typeface="Arial" pitchFamily="34" charset="-120"/>
              </a:rPr>
              <a:t>Option A: Simple</a:t>
            </a:r>
            <a:endParaRPr lang="en-US" sz="1100" dirty="0"/>
          </a:p>
        </p:txBody>
      </p:sp>
      <p:sp>
        <p:nvSpPr>
          <p:cNvPr id="7" name="Text 4"/>
          <p:cNvSpPr/>
          <p:nvPr/>
        </p:nvSpPr>
        <p:spPr>
          <a:xfrm>
            <a:off x="457200" y="3246120"/>
            <a:ext cx="2560320" cy="228600"/>
          </a:xfrm>
          <a:prstGeom prst="rect">
            <a:avLst/>
          </a:prstGeom>
          <a:noFill/>
          <a:ln/>
        </p:spPr>
        <p:txBody>
          <a:bodyPr wrap="square"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Teal nodes, blue edges</a:t>
            </a:r>
            <a:endParaRPr lang="en-US" sz="1000" dirty="0"/>
          </a:p>
        </p:txBody>
      </p:sp>
      <p:sp>
        <p:nvSpPr>
          <p:cNvPr id="8" name="Shape 5"/>
          <p:cNvSpPr/>
          <p:nvPr/>
        </p:nvSpPr>
        <p:spPr>
          <a:xfrm>
            <a:off x="3291840" y="1463040"/>
            <a:ext cx="2560320" cy="2011680"/>
          </a:xfrm>
          <a:prstGeom prst="rect">
            <a:avLst/>
          </a:prstGeom>
          <a:solidFill>
            <a:srgbClr val="F8FAFC"/>
          </a:solidFill>
          <a:ln/>
        </p:spPr>
      </p:sp>
      <p:pic>
        <p:nvPicPr>
          <p:cNvPr id="9" name="Image 1" descr="preencoded.png">    </p:cNvPr>
          <p:cNvPicPr>
            <a:picLocks noChangeAspect="1"/>
          </p:cNvPicPr>
          <p:nvPr/>
        </p:nvPicPr>
        <p:blipFill>
          <a:blip r:embed="rId2"/>
          <a:stretch>
            <a:fillRect/>
          </a:stretch>
        </p:blipFill>
        <p:spPr>
          <a:xfrm>
            <a:off x="3474720" y="1645920"/>
            <a:ext cx="2194560" cy="1280160"/>
          </a:xfrm>
          <a:prstGeom prst="rect">
            <a:avLst/>
          </a:prstGeom>
        </p:spPr>
      </p:pic>
      <p:sp>
        <p:nvSpPr>
          <p:cNvPr id="10" name="Text 6"/>
          <p:cNvSpPr/>
          <p:nvPr/>
        </p:nvSpPr>
        <p:spPr>
          <a:xfrm>
            <a:off x="3291840" y="3017520"/>
            <a:ext cx="2560320" cy="274320"/>
          </a:xfrm>
          <a:prstGeom prst="rect">
            <a:avLst/>
          </a:prstGeom>
          <a:noFill/>
          <a:ln/>
        </p:spPr>
        <p:txBody>
          <a:bodyPr wrap="square" rtlCol="0" anchor="ctr"/>
          <a:lstStyle/>
          <a:p>
            <a:pPr algn="ctr" indent="0" marL="0">
              <a:buNone/>
            </a:pPr>
            <a:r>
              <a:rPr lang="en-US" sz="1100" b="1" dirty="0">
                <a:solidFill>
                  <a:srgbClr val="1E293B"/>
                </a:solidFill>
                <a:latin typeface="Arial" pitchFamily="34" charset="0"/>
                <a:ea typeface="Arial" pitchFamily="34" charset="-122"/>
                <a:cs typeface="Arial" pitchFamily="34" charset="-120"/>
              </a:rPr>
              <a:t>Option B: Switchboard</a:t>
            </a:r>
            <a:endParaRPr lang="en-US" sz="1100" dirty="0"/>
          </a:p>
        </p:txBody>
      </p:sp>
      <p:sp>
        <p:nvSpPr>
          <p:cNvPr id="11" name="Text 7"/>
          <p:cNvSpPr/>
          <p:nvPr/>
        </p:nvSpPr>
        <p:spPr>
          <a:xfrm>
            <a:off x="3291840" y="3246120"/>
            <a:ext cx="2560320" cy="228600"/>
          </a:xfrm>
          <a:prstGeom prst="rect">
            <a:avLst/>
          </a:prstGeom>
          <a:noFill/>
          <a:ln/>
        </p:spPr>
        <p:txBody>
          <a:bodyPr wrap="square"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Grid motif with path</a:t>
            </a:r>
            <a:endParaRPr lang="en-US" sz="1000" dirty="0"/>
          </a:p>
        </p:txBody>
      </p:sp>
      <p:sp>
        <p:nvSpPr>
          <p:cNvPr id="12" name="Shape 8"/>
          <p:cNvSpPr/>
          <p:nvPr/>
        </p:nvSpPr>
        <p:spPr>
          <a:xfrm>
            <a:off x="6126480" y="1463040"/>
            <a:ext cx="2560320" cy="2011680"/>
          </a:xfrm>
          <a:prstGeom prst="rect">
            <a:avLst/>
          </a:prstGeom>
          <a:solidFill>
            <a:srgbClr val="F8FAFC"/>
          </a:solidFill>
          <a:ln/>
        </p:spPr>
      </p:sp>
      <p:pic>
        <p:nvPicPr>
          <p:cNvPr id="13" name="Image 2" descr="preencoded.png">    </p:cNvPr>
          <p:cNvPicPr>
            <a:picLocks noChangeAspect="1"/>
          </p:cNvPicPr>
          <p:nvPr/>
        </p:nvPicPr>
        <p:blipFill>
          <a:blip r:embed="rId3"/>
          <a:stretch>
            <a:fillRect/>
          </a:stretch>
        </p:blipFill>
        <p:spPr>
          <a:xfrm>
            <a:off x="6309360" y="1645920"/>
            <a:ext cx="2194560" cy="1280160"/>
          </a:xfrm>
          <a:prstGeom prst="rect">
            <a:avLst/>
          </a:prstGeom>
        </p:spPr>
      </p:pic>
      <p:sp>
        <p:nvSpPr>
          <p:cNvPr id="14" name="Text 9"/>
          <p:cNvSpPr/>
          <p:nvPr/>
        </p:nvSpPr>
        <p:spPr>
          <a:xfrm>
            <a:off x="6126480" y="3017520"/>
            <a:ext cx="2560320" cy="274320"/>
          </a:xfrm>
          <a:prstGeom prst="rect">
            <a:avLst/>
          </a:prstGeom>
          <a:noFill/>
          <a:ln/>
        </p:spPr>
        <p:txBody>
          <a:bodyPr wrap="square" rtlCol="0" anchor="ctr"/>
          <a:lstStyle/>
          <a:p>
            <a:pPr algn="ctr" indent="0" marL="0">
              <a:buNone/>
            </a:pPr>
            <a:r>
              <a:rPr lang="en-US" sz="1100" b="1" dirty="0">
                <a:solidFill>
                  <a:srgbClr val="1E293B"/>
                </a:solidFill>
                <a:latin typeface="Arial" pitchFamily="34" charset="0"/>
                <a:ea typeface="Arial" pitchFamily="34" charset="-122"/>
                <a:cs typeface="Arial" pitchFamily="34" charset="-120"/>
              </a:rPr>
              <a:t>Option C: Minimal</a:t>
            </a:r>
            <a:endParaRPr lang="en-US" sz="1100" dirty="0"/>
          </a:p>
        </p:txBody>
      </p:sp>
      <p:sp>
        <p:nvSpPr>
          <p:cNvPr id="15" name="Text 10"/>
          <p:cNvSpPr/>
          <p:nvPr/>
        </p:nvSpPr>
        <p:spPr>
          <a:xfrm>
            <a:off x="6126480" y="3246120"/>
            <a:ext cx="2560320" cy="228600"/>
          </a:xfrm>
          <a:prstGeom prst="rect">
            <a:avLst/>
          </a:prstGeom>
          <a:noFill/>
          <a:ln/>
        </p:spPr>
        <p:txBody>
          <a:bodyPr wrap="square"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Single color (teal)</a:t>
            </a:r>
            <a:endParaRPr lang="en-US" sz="1000" dirty="0"/>
          </a:p>
        </p:txBody>
      </p:sp>
      <p:sp>
        <p:nvSpPr>
          <p:cNvPr id="16" name="Text 11"/>
          <p:cNvSpPr/>
          <p:nvPr/>
        </p:nvSpPr>
        <p:spPr>
          <a:xfrm>
            <a:off x="457200" y="3749040"/>
            <a:ext cx="8229600" cy="320040"/>
          </a:xfrm>
          <a:prstGeom prst="rect">
            <a:avLst/>
          </a:prstGeom>
          <a:noFill/>
          <a:ln/>
        </p:spPr>
        <p:txBody>
          <a:bodyPr wrap="square" rtlCol="0" anchor="ctr"/>
          <a:lstStyle/>
          <a:p>
            <a:pPr indent="0" marL="0">
              <a:buNone/>
            </a:pPr>
            <a:r>
              <a:rPr lang="en-US" sz="1400" b="1" dirty="0">
                <a:solidFill>
                  <a:srgbClr val="44BB99"/>
                </a:solidFill>
                <a:latin typeface="Arial" pitchFamily="34" charset="0"/>
                <a:ea typeface="Arial" pitchFamily="34" charset="-122"/>
                <a:cs typeface="Arial" pitchFamily="34" charset="-120"/>
              </a:rPr>
              <a:t>Horizontal Logo with Wordmark</a:t>
            </a:r>
            <a:endParaRPr lang="en-US" sz="1400" dirty="0"/>
          </a:p>
        </p:txBody>
      </p:sp>
      <p:sp>
        <p:nvSpPr>
          <p:cNvPr id="17" name="Shape 12"/>
          <p:cNvSpPr/>
          <p:nvPr/>
        </p:nvSpPr>
        <p:spPr>
          <a:xfrm>
            <a:off x="457200" y="4114800"/>
            <a:ext cx="3840480" cy="914400"/>
          </a:xfrm>
          <a:prstGeom prst="rect">
            <a:avLst/>
          </a:prstGeom>
          <a:solidFill>
            <a:srgbClr val="F8FAFC"/>
          </a:solidFill>
          <a:ln/>
        </p:spPr>
      </p:sp>
      <p:pic>
        <p:nvPicPr>
          <p:cNvPr id="18" name="Image 3" descr="preencoded.png">    </p:cNvPr>
          <p:cNvPicPr>
            <a:picLocks noChangeAspect="1"/>
          </p:cNvPicPr>
          <p:nvPr/>
        </p:nvPicPr>
        <p:blipFill>
          <a:blip r:embed="rId4"/>
          <a:stretch>
            <a:fillRect/>
          </a:stretch>
        </p:blipFill>
        <p:spPr>
          <a:xfrm>
            <a:off x="640080" y="4206240"/>
            <a:ext cx="3474720" cy="731520"/>
          </a:xfrm>
          <a:prstGeom prst="rect">
            <a:avLst/>
          </a:prstGeom>
        </p:spPr>
      </p:pic>
      <p:sp>
        <p:nvSpPr>
          <p:cNvPr id="19" name="Shape 13"/>
          <p:cNvSpPr/>
          <p:nvPr/>
        </p:nvSpPr>
        <p:spPr>
          <a:xfrm>
            <a:off x="4572000" y="4114800"/>
            <a:ext cx="4114800" cy="914400"/>
          </a:xfrm>
          <a:prstGeom prst="rect">
            <a:avLst/>
          </a:prstGeom>
          <a:solidFill>
            <a:srgbClr val="0F172A"/>
          </a:solidFill>
          <a:ln/>
        </p:spPr>
      </p:sp>
      <p:pic>
        <p:nvPicPr>
          <p:cNvPr id="20" name="Image 4" descr="preencoded.png">    </p:cNvPr>
          <p:cNvPicPr>
            <a:picLocks noChangeAspect="1"/>
          </p:cNvPicPr>
          <p:nvPr/>
        </p:nvPicPr>
        <p:blipFill>
          <a:blip r:embed="rId5"/>
          <a:stretch>
            <a:fillRect/>
          </a:stretch>
        </p:blipFill>
        <p:spPr>
          <a:xfrm>
            <a:off x="4846320" y="4206240"/>
            <a:ext cx="3566160" cy="7315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3200" b="1" dirty="0">
                <a:solidFill>
                  <a:srgbClr val="1E293B"/>
                </a:solidFill>
                <a:latin typeface="Arial" pitchFamily="34" charset="0"/>
                <a:ea typeface="Arial" pitchFamily="34" charset="-122"/>
                <a:cs typeface="Arial" pitchFamily="34" charset="-120"/>
              </a:rPr>
              <a:t>Color Palette</a:t>
            </a:r>
            <a:endParaRPr lang="en-US" sz="3200" dirty="0"/>
          </a:p>
        </p:txBody>
      </p:sp>
      <p:sp>
        <p:nvSpPr>
          <p:cNvPr id="3" name="Text 1"/>
          <p:cNvSpPr/>
          <p:nvPr/>
        </p:nvSpPr>
        <p:spPr>
          <a:xfrm>
            <a:off x="457200" y="1005840"/>
            <a:ext cx="3657600" cy="320040"/>
          </a:xfrm>
          <a:prstGeom prst="rect">
            <a:avLst/>
          </a:prstGeom>
          <a:noFill/>
          <a:ln/>
        </p:spPr>
        <p:txBody>
          <a:bodyPr wrap="square" rtlCol="0" anchor="ctr"/>
          <a:lstStyle/>
          <a:p>
            <a:pPr indent="0" marL="0">
              <a:buNone/>
            </a:pPr>
            <a:r>
              <a:rPr lang="en-US" sz="1400" b="1" dirty="0">
                <a:solidFill>
                  <a:srgbClr val="44BB99"/>
                </a:solidFill>
                <a:latin typeface="Arial" pitchFamily="34" charset="0"/>
                <a:ea typeface="Arial" pitchFamily="34" charset="-122"/>
                <a:cs typeface="Arial" pitchFamily="34" charset="-120"/>
              </a:rPr>
              <a:t>Primary Colors</a:t>
            </a:r>
            <a:endParaRPr lang="en-US" sz="1400" dirty="0"/>
          </a:p>
        </p:txBody>
      </p:sp>
      <p:sp>
        <p:nvSpPr>
          <p:cNvPr id="4" name="Shape 2"/>
          <p:cNvSpPr/>
          <p:nvPr/>
        </p:nvSpPr>
        <p:spPr>
          <a:xfrm>
            <a:off x="457200" y="1371600"/>
            <a:ext cx="1920240" cy="914400"/>
          </a:xfrm>
          <a:prstGeom prst="rect">
            <a:avLst/>
          </a:prstGeom>
          <a:solidFill>
            <a:srgbClr val="44BB99"/>
          </a:solidFill>
          <a:ln/>
        </p:spPr>
      </p:sp>
      <p:sp>
        <p:nvSpPr>
          <p:cNvPr id="5" name="Text 3"/>
          <p:cNvSpPr/>
          <p:nvPr/>
        </p:nvSpPr>
        <p:spPr>
          <a:xfrm>
            <a:off x="457200" y="2331720"/>
            <a:ext cx="1920240" cy="256032"/>
          </a:xfrm>
          <a:prstGeom prst="rect">
            <a:avLst/>
          </a:prstGeom>
          <a:noFill/>
          <a:ln/>
        </p:spPr>
        <p:txBody>
          <a:bodyPr wrap="square" rtlCol="0" anchor="ctr"/>
          <a:lstStyle/>
          <a:p>
            <a:pPr indent="0" marL="0">
              <a:buNone/>
            </a:pPr>
            <a:r>
              <a:rPr lang="en-US" sz="1100" b="1" dirty="0">
                <a:solidFill>
                  <a:srgbClr val="1E293B"/>
                </a:solidFill>
                <a:latin typeface="Arial" pitchFamily="34" charset="0"/>
                <a:ea typeface="Arial" pitchFamily="34" charset="-122"/>
                <a:cs typeface="Arial" pitchFamily="34" charset="-120"/>
              </a:rPr>
              <a:t>URPX Teal</a:t>
            </a:r>
            <a:endParaRPr lang="en-US" sz="1100" dirty="0"/>
          </a:p>
        </p:txBody>
      </p:sp>
      <p:sp>
        <p:nvSpPr>
          <p:cNvPr id="6" name="Text 4"/>
          <p:cNvSpPr/>
          <p:nvPr/>
        </p:nvSpPr>
        <p:spPr>
          <a:xfrm>
            <a:off x="457200" y="2560320"/>
            <a:ext cx="1920240" cy="22860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#44BB99</a:t>
            </a:r>
            <a:endParaRPr lang="en-US" sz="1000" dirty="0"/>
          </a:p>
        </p:txBody>
      </p:sp>
      <p:sp>
        <p:nvSpPr>
          <p:cNvPr id="7" name="Text 5"/>
          <p:cNvSpPr/>
          <p:nvPr/>
        </p:nvSpPr>
        <p:spPr>
          <a:xfrm>
            <a:off x="457200" y="2743200"/>
            <a:ext cx="1920240" cy="22860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Primary brand, nodes</a:t>
            </a:r>
            <a:endParaRPr lang="en-US" sz="900" dirty="0"/>
          </a:p>
        </p:txBody>
      </p:sp>
      <p:sp>
        <p:nvSpPr>
          <p:cNvPr id="8" name="Shape 6"/>
          <p:cNvSpPr/>
          <p:nvPr/>
        </p:nvSpPr>
        <p:spPr>
          <a:xfrm>
            <a:off x="2560320" y="1371600"/>
            <a:ext cx="1920240" cy="914400"/>
          </a:xfrm>
          <a:prstGeom prst="rect">
            <a:avLst/>
          </a:prstGeom>
          <a:solidFill>
            <a:srgbClr val="2563EB"/>
          </a:solidFill>
          <a:ln/>
        </p:spPr>
      </p:sp>
      <p:sp>
        <p:nvSpPr>
          <p:cNvPr id="9" name="Text 7"/>
          <p:cNvSpPr/>
          <p:nvPr/>
        </p:nvSpPr>
        <p:spPr>
          <a:xfrm>
            <a:off x="2560320" y="2331720"/>
            <a:ext cx="1920240" cy="256032"/>
          </a:xfrm>
          <a:prstGeom prst="rect">
            <a:avLst/>
          </a:prstGeom>
          <a:noFill/>
          <a:ln/>
        </p:spPr>
        <p:txBody>
          <a:bodyPr wrap="square" rtlCol="0" anchor="ctr"/>
          <a:lstStyle/>
          <a:p>
            <a:pPr indent="0" marL="0">
              <a:buNone/>
            </a:pPr>
            <a:r>
              <a:rPr lang="en-US" sz="1100" b="1" dirty="0">
                <a:solidFill>
                  <a:srgbClr val="1E293B"/>
                </a:solidFill>
                <a:latin typeface="Arial" pitchFamily="34" charset="0"/>
                <a:ea typeface="Arial" pitchFamily="34" charset="-122"/>
                <a:cs typeface="Arial" pitchFamily="34" charset="-120"/>
              </a:rPr>
              <a:t>URPX Blue</a:t>
            </a:r>
            <a:endParaRPr lang="en-US" sz="1100" dirty="0"/>
          </a:p>
        </p:txBody>
      </p:sp>
      <p:sp>
        <p:nvSpPr>
          <p:cNvPr id="10" name="Text 8"/>
          <p:cNvSpPr/>
          <p:nvPr/>
        </p:nvSpPr>
        <p:spPr>
          <a:xfrm>
            <a:off x="2560320" y="2560320"/>
            <a:ext cx="1920240" cy="22860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#2563EB</a:t>
            </a:r>
            <a:endParaRPr lang="en-US" sz="1000" dirty="0"/>
          </a:p>
        </p:txBody>
      </p:sp>
      <p:sp>
        <p:nvSpPr>
          <p:cNvPr id="11" name="Text 9"/>
          <p:cNvSpPr/>
          <p:nvPr/>
        </p:nvSpPr>
        <p:spPr>
          <a:xfrm>
            <a:off x="2560320" y="2743200"/>
            <a:ext cx="1920240" cy="22860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Accent, edges, links</a:t>
            </a:r>
            <a:endParaRPr lang="en-US" sz="900" dirty="0"/>
          </a:p>
        </p:txBody>
      </p:sp>
      <p:sp>
        <p:nvSpPr>
          <p:cNvPr id="12" name="Shape 10"/>
          <p:cNvSpPr/>
          <p:nvPr/>
        </p:nvSpPr>
        <p:spPr>
          <a:xfrm>
            <a:off x="4663440" y="1371600"/>
            <a:ext cx="1920240" cy="914400"/>
          </a:xfrm>
          <a:prstGeom prst="rect">
            <a:avLst/>
          </a:prstGeom>
          <a:solidFill>
            <a:srgbClr val="008A5C"/>
          </a:solidFill>
          <a:ln/>
        </p:spPr>
      </p:sp>
      <p:sp>
        <p:nvSpPr>
          <p:cNvPr id="13" name="Text 11"/>
          <p:cNvSpPr/>
          <p:nvPr/>
        </p:nvSpPr>
        <p:spPr>
          <a:xfrm>
            <a:off x="4663440" y="2331720"/>
            <a:ext cx="1920240" cy="256032"/>
          </a:xfrm>
          <a:prstGeom prst="rect">
            <a:avLst/>
          </a:prstGeom>
          <a:noFill/>
          <a:ln/>
        </p:spPr>
        <p:txBody>
          <a:bodyPr wrap="square" rtlCol="0" anchor="ctr"/>
          <a:lstStyle/>
          <a:p>
            <a:pPr indent="0" marL="0">
              <a:buNone/>
            </a:pPr>
            <a:r>
              <a:rPr lang="en-US" sz="1100" b="1" dirty="0">
                <a:solidFill>
                  <a:srgbClr val="1E293B"/>
                </a:solidFill>
                <a:latin typeface="Arial" pitchFamily="34" charset="0"/>
                <a:ea typeface="Arial" pitchFamily="34" charset="-122"/>
                <a:cs typeface="Arial" pitchFamily="34" charset="-120"/>
              </a:rPr>
              <a:t>Dark Green</a:t>
            </a:r>
            <a:endParaRPr lang="en-US" sz="1100" dirty="0"/>
          </a:p>
        </p:txBody>
      </p:sp>
      <p:sp>
        <p:nvSpPr>
          <p:cNvPr id="14" name="Text 12"/>
          <p:cNvSpPr/>
          <p:nvPr/>
        </p:nvSpPr>
        <p:spPr>
          <a:xfrm>
            <a:off x="4663440" y="2560320"/>
            <a:ext cx="1920240" cy="22860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#008A5C</a:t>
            </a:r>
            <a:endParaRPr lang="en-US" sz="1000" dirty="0"/>
          </a:p>
        </p:txBody>
      </p:sp>
      <p:sp>
        <p:nvSpPr>
          <p:cNvPr id="15" name="Text 13"/>
          <p:cNvSpPr/>
          <p:nvPr/>
        </p:nvSpPr>
        <p:spPr>
          <a:xfrm>
            <a:off x="4663440" y="2743200"/>
            <a:ext cx="1920240" cy="22860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Dark mode, contrast</a:t>
            </a:r>
            <a:endParaRPr lang="en-US" sz="900" dirty="0"/>
          </a:p>
        </p:txBody>
      </p:sp>
      <p:sp>
        <p:nvSpPr>
          <p:cNvPr id="16" name="Shape 14"/>
          <p:cNvSpPr/>
          <p:nvPr/>
        </p:nvSpPr>
        <p:spPr>
          <a:xfrm>
            <a:off x="6766560" y="1371600"/>
            <a:ext cx="1920240" cy="914400"/>
          </a:xfrm>
          <a:prstGeom prst="rect">
            <a:avLst/>
          </a:prstGeom>
          <a:solidFill>
            <a:srgbClr val="1E293B"/>
          </a:solidFill>
          <a:ln/>
        </p:spPr>
      </p:sp>
      <p:sp>
        <p:nvSpPr>
          <p:cNvPr id="17" name="Text 15"/>
          <p:cNvSpPr/>
          <p:nvPr/>
        </p:nvSpPr>
        <p:spPr>
          <a:xfrm>
            <a:off x="6766560" y="2331720"/>
            <a:ext cx="1920240" cy="256032"/>
          </a:xfrm>
          <a:prstGeom prst="rect">
            <a:avLst/>
          </a:prstGeom>
          <a:noFill/>
          <a:ln/>
        </p:spPr>
        <p:txBody>
          <a:bodyPr wrap="square" rtlCol="0" anchor="ctr"/>
          <a:lstStyle/>
          <a:p>
            <a:pPr indent="0" marL="0">
              <a:buNone/>
            </a:pPr>
            <a:r>
              <a:rPr lang="en-US" sz="1100" b="1" dirty="0">
                <a:solidFill>
                  <a:srgbClr val="1E293B"/>
                </a:solidFill>
                <a:latin typeface="Arial" pitchFamily="34" charset="0"/>
                <a:ea typeface="Arial" pitchFamily="34" charset="-122"/>
                <a:cs typeface="Arial" pitchFamily="34" charset="-120"/>
              </a:rPr>
              <a:t>Dark Text</a:t>
            </a:r>
            <a:endParaRPr lang="en-US" sz="1100" dirty="0"/>
          </a:p>
        </p:txBody>
      </p:sp>
      <p:sp>
        <p:nvSpPr>
          <p:cNvPr id="18" name="Text 16"/>
          <p:cNvSpPr/>
          <p:nvPr/>
        </p:nvSpPr>
        <p:spPr>
          <a:xfrm>
            <a:off x="6766560" y="2560320"/>
            <a:ext cx="1920240" cy="22860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#1E293B</a:t>
            </a:r>
            <a:endParaRPr lang="en-US" sz="1000" dirty="0"/>
          </a:p>
        </p:txBody>
      </p:sp>
      <p:sp>
        <p:nvSpPr>
          <p:cNvPr id="19" name="Text 17"/>
          <p:cNvSpPr/>
          <p:nvPr/>
        </p:nvSpPr>
        <p:spPr>
          <a:xfrm>
            <a:off x="6766560" y="2743200"/>
            <a:ext cx="1920240" cy="22860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Headlines, body</a:t>
            </a:r>
            <a:endParaRPr lang="en-US" sz="900" dirty="0"/>
          </a:p>
        </p:txBody>
      </p:sp>
      <p:sp>
        <p:nvSpPr>
          <p:cNvPr id="20" name="Text 18"/>
          <p:cNvSpPr/>
          <p:nvPr/>
        </p:nvSpPr>
        <p:spPr>
          <a:xfrm>
            <a:off x="457200" y="3200400"/>
            <a:ext cx="8229600" cy="320040"/>
          </a:xfrm>
          <a:prstGeom prst="rect">
            <a:avLst/>
          </a:prstGeom>
          <a:noFill/>
          <a:ln/>
        </p:spPr>
        <p:txBody>
          <a:bodyPr wrap="square" rtlCol="0" anchor="ctr"/>
          <a:lstStyle/>
          <a:p>
            <a:pPr indent="0" marL="0">
              <a:buNone/>
            </a:pPr>
            <a:r>
              <a:rPr lang="en-US" sz="1400" b="1" dirty="0">
                <a:solidFill>
                  <a:srgbClr val="44BB99"/>
                </a:solidFill>
                <a:latin typeface="Arial" pitchFamily="34" charset="0"/>
                <a:ea typeface="Arial" pitchFamily="34" charset="-122"/>
                <a:cs typeface="Arial" pitchFamily="34" charset="-120"/>
              </a:rPr>
              <a:t>Extended Palette (Paul Tol Light — Accessibility)</a:t>
            </a:r>
            <a:endParaRPr lang="en-US" sz="1400" dirty="0"/>
          </a:p>
        </p:txBody>
      </p:sp>
      <p:sp>
        <p:nvSpPr>
          <p:cNvPr id="21" name="Shape 19"/>
          <p:cNvSpPr/>
          <p:nvPr/>
        </p:nvSpPr>
        <p:spPr>
          <a:xfrm>
            <a:off x="457200" y="3566160"/>
            <a:ext cx="777240" cy="777240"/>
          </a:xfrm>
          <a:prstGeom prst="rect">
            <a:avLst/>
          </a:prstGeom>
          <a:solidFill>
            <a:srgbClr val="77AADD"/>
          </a:solidFill>
          <a:ln/>
        </p:spPr>
      </p:sp>
      <p:sp>
        <p:nvSpPr>
          <p:cNvPr id="22" name="Text 20"/>
          <p:cNvSpPr/>
          <p:nvPr/>
        </p:nvSpPr>
        <p:spPr>
          <a:xfrm>
            <a:off x="457200" y="4389120"/>
            <a:ext cx="77724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#77AADD</a:t>
            </a:r>
            <a:endParaRPr lang="en-US" sz="800" dirty="0"/>
          </a:p>
        </p:txBody>
      </p:sp>
      <p:sp>
        <p:nvSpPr>
          <p:cNvPr id="23" name="Shape 21"/>
          <p:cNvSpPr/>
          <p:nvPr/>
        </p:nvSpPr>
        <p:spPr>
          <a:xfrm>
            <a:off x="1371600" y="3566160"/>
            <a:ext cx="777240" cy="777240"/>
          </a:xfrm>
          <a:prstGeom prst="rect">
            <a:avLst/>
          </a:prstGeom>
          <a:solidFill>
            <a:srgbClr val="EE8866"/>
          </a:solidFill>
          <a:ln/>
        </p:spPr>
      </p:sp>
      <p:sp>
        <p:nvSpPr>
          <p:cNvPr id="24" name="Text 22"/>
          <p:cNvSpPr/>
          <p:nvPr/>
        </p:nvSpPr>
        <p:spPr>
          <a:xfrm>
            <a:off x="1371600" y="4389120"/>
            <a:ext cx="77724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#EE8866</a:t>
            </a:r>
            <a:endParaRPr lang="en-US" sz="800" dirty="0"/>
          </a:p>
        </p:txBody>
      </p:sp>
      <p:sp>
        <p:nvSpPr>
          <p:cNvPr id="25" name="Shape 23"/>
          <p:cNvSpPr/>
          <p:nvPr/>
        </p:nvSpPr>
        <p:spPr>
          <a:xfrm>
            <a:off x="2286000" y="3566160"/>
            <a:ext cx="777240" cy="777240"/>
          </a:xfrm>
          <a:prstGeom prst="rect">
            <a:avLst/>
          </a:prstGeom>
          <a:solidFill>
            <a:srgbClr val="EEDD88"/>
          </a:solidFill>
          <a:ln/>
        </p:spPr>
      </p:sp>
      <p:sp>
        <p:nvSpPr>
          <p:cNvPr id="26" name="Text 24"/>
          <p:cNvSpPr/>
          <p:nvPr/>
        </p:nvSpPr>
        <p:spPr>
          <a:xfrm>
            <a:off x="2286000" y="4389120"/>
            <a:ext cx="77724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#EEDD88</a:t>
            </a:r>
            <a:endParaRPr lang="en-US" sz="800" dirty="0"/>
          </a:p>
        </p:txBody>
      </p:sp>
      <p:sp>
        <p:nvSpPr>
          <p:cNvPr id="27" name="Shape 25"/>
          <p:cNvSpPr/>
          <p:nvPr/>
        </p:nvSpPr>
        <p:spPr>
          <a:xfrm>
            <a:off x="3200400" y="3566160"/>
            <a:ext cx="777240" cy="777240"/>
          </a:xfrm>
          <a:prstGeom prst="rect">
            <a:avLst/>
          </a:prstGeom>
          <a:solidFill>
            <a:srgbClr val="FFAABB"/>
          </a:solidFill>
          <a:ln/>
        </p:spPr>
      </p:sp>
      <p:sp>
        <p:nvSpPr>
          <p:cNvPr id="28" name="Text 26"/>
          <p:cNvSpPr/>
          <p:nvPr/>
        </p:nvSpPr>
        <p:spPr>
          <a:xfrm>
            <a:off x="3200400" y="4389120"/>
            <a:ext cx="77724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#FFAABB</a:t>
            </a:r>
            <a:endParaRPr lang="en-US" sz="800" dirty="0"/>
          </a:p>
        </p:txBody>
      </p:sp>
      <p:sp>
        <p:nvSpPr>
          <p:cNvPr id="29" name="Shape 27"/>
          <p:cNvSpPr/>
          <p:nvPr/>
        </p:nvSpPr>
        <p:spPr>
          <a:xfrm>
            <a:off x="4114800" y="3566160"/>
            <a:ext cx="777240" cy="777240"/>
          </a:xfrm>
          <a:prstGeom prst="rect">
            <a:avLst/>
          </a:prstGeom>
          <a:solidFill>
            <a:srgbClr val="99DDFF"/>
          </a:solidFill>
          <a:ln/>
        </p:spPr>
      </p:sp>
      <p:sp>
        <p:nvSpPr>
          <p:cNvPr id="30" name="Text 28"/>
          <p:cNvSpPr/>
          <p:nvPr/>
        </p:nvSpPr>
        <p:spPr>
          <a:xfrm>
            <a:off x="4114800" y="4389120"/>
            <a:ext cx="77724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#99DDFF</a:t>
            </a:r>
            <a:endParaRPr lang="en-US" sz="800" dirty="0"/>
          </a:p>
        </p:txBody>
      </p:sp>
      <p:sp>
        <p:nvSpPr>
          <p:cNvPr id="31" name="Shape 29"/>
          <p:cNvSpPr/>
          <p:nvPr/>
        </p:nvSpPr>
        <p:spPr>
          <a:xfrm>
            <a:off x="5029200" y="3566160"/>
            <a:ext cx="777240" cy="777240"/>
          </a:xfrm>
          <a:prstGeom prst="rect">
            <a:avLst/>
          </a:prstGeom>
          <a:solidFill>
            <a:srgbClr val="44BB99"/>
          </a:solidFill>
          <a:ln/>
        </p:spPr>
      </p:sp>
      <p:sp>
        <p:nvSpPr>
          <p:cNvPr id="32" name="Text 30"/>
          <p:cNvSpPr/>
          <p:nvPr/>
        </p:nvSpPr>
        <p:spPr>
          <a:xfrm>
            <a:off x="5029200" y="4389120"/>
            <a:ext cx="77724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#44BB99</a:t>
            </a:r>
            <a:endParaRPr lang="en-US" sz="800" dirty="0"/>
          </a:p>
        </p:txBody>
      </p:sp>
      <p:sp>
        <p:nvSpPr>
          <p:cNvPr id="33" name="Shape 31"/>
          <p:cNvSpPr/>
          <p:nvPr/>
        </p:nvSpPr>
        <p:spPr>
          <a:xfrm>
            <a:off x="5943600" y="3566160"/>
            <a:ext cx="777240" cy="777240"/>
          </a:xfrm>
          <a:prstGeom prst="rect">
            <a:avLst/>
          </a:prstGeom>
          <a:solidFill>
            <a:srgbClr val="BBCC33"/>
          </a:solidFill>
          <a:ln/>
        </p:spPr>
      </p:sp>
      <p:sp>
        <p:nvSpPr>
          <p:cNvPr id="34" name="Text 32"/>
          <p:cNvSpPr/>
          <p:nvPr/>
        </p:nvSpPr>
        <p:spPr>
          <a:xfrm>
            <a:off x="5943600" y="4389120"/>
            <a:ext cx="77724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#BBCC33</a:t>
            </a:r>
            <a:endParaRPr lang="en-US" sz="800" dirty="0"/>
          </a:p>
        </p:txBody>
      </p:sp>
      <p:sp>
        <p:nvSpPr>
          <p:cNvPr id="35" name="Shape 33"/>
          <p:cNvSpPr/>
          <p:nvPr/>
        </p:nvSpPr>
        <p:spPr>
          <a:xfrm>
            <a:off x="6858000" y="3566160"/>
            <a:ext cx="777240" cy="777240"/>
          </a:xfrm>
          <a:prstGeom prst="rect">
            <a:avLst/>
          </a:prstGeom>
          <a:solidFill>
            <a:srgbClr val="AAAA00"/>
          </a:solidFill>
          <a:ln/>
        </p:spPr>
      </p:sp>
      <p:sp>
        <p:nvSpPr>
          <p:cNvPr id="36" name="Text 34"/>
          <p:cNvSpPr/>
          <p:nvPr/>
        </p:nvSpPr>
        <p:spPr>
          <a:xfrm>
            <a:off x="6858000" y="4389120"/>
            <a:ext cx="77724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#AAAA00</a:t>
            </a:r>
            <a:endParaRPr lang="en-US" sz="800" dirty="0"/>
          </a:p>
        </p:txBody>
      </p:sp>
      <p:sp>
        <p:nvSpPr>
          <p:cNvPr id="37" name="Shape 35"/>
          <p:cNvSpPr/>
          <p:nvPr/>
        </p:nvSpPr>
        <p:spPr>
          <a:xfrm>
            <a:off x="7772400" y="3566160"/>
            <a:ext cx="777240" cy="777240"/>
          </a:xfrm>
          <a:prstGeom prst="rect">
            <a:avLst/>
          </a:prstGeom>
          <a:solidFill>
            <a:srgbClr val="DDDDDD"/>
          </a:solidFill>
          <a:ln/>
        </p:spPr>
      </p:sp>
      <p:sp>
        <p:nvSpPr>
          <p:cNvPr id="38" name="Text 36"/>
          <p:cNvSpPr/>
          <p:nvPr/>
        </p:nvSpPr>
        <p:spPr>
          <a:xfrm>
            <a:off x="7772400" y="4389120"/>
            <a:ext cx="77724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#DDDDDD</a:t>
            </a:r>
            <a:endParaRPr lang="en-US" sz="800" dirty="0"/>
          </a:p>
        </p:txBody>
      </p:sp>
      <p:sp>
        <p:nvSpPr>
          <p:cNvPr id="39" name="Text 37"/>
          <p:cNvSpPr/>
          <p:nvPr/>
        </p:nvSpPr>
        <p:spPr>
          <a:xfrm>
            <a:off x="457200" y="4663440"/>
            <a:ext cx="8229600" cy="274320"/>
          </a:xfrm>
          <a:prstGeom prst="rect">
            <a:avLst/>
          </a:prstGeom>
          <a:noFill/>
          <a:ln/>
        </p:spPr>
        <p:txBody>
          <a:bodyPr wrap="square" rtlCol="0" anchor="ctr"/>
          <a:lstStyle/>
          <a:p>
            <a:pPr indent="0" marL="0">
              <a:buNone/>
            </a:pPr>
            <a:r>
              <a:rPr lang="en-US" sz="1100" i="1" dirty="0">
                <a:solidFill>
                  <a:srgbClr val="64748B"/>
                </a:solidFill>
                <a:latin typeface="Arial" pitchFamily="34" charset="0"/>
                <a:ea typeface="Arial" pitchFamily="34" charset="-122"/>
                <a:cs typeface="Arial" pitchFamily="34" charset="-120"/>
              </a:rPr>
              <a:t>Use for infographics, data visualization, and charts. Color-blind safe.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3200" b="1" dirty="0">
                <a:solidFill>
                  <a:srgbClr val="1E293B"/>
                </a:solidFill>
                <a:latin typeface="Arial" pitchFamily="34" charset="0"/>
                <a:ea typeface="Arial" pitchFamily="34" charset="-122"/>
                <a:cs typeface="Arial" pitchFamily="34" charset="-120"/>
              </a:rPr>
              <a:t>Typography</a:t>
            </a:r>
            <a:endParaRPr lang="en-US" sz="3200" dirty="0"/>
          </a:p>
        </p:txBody>
      </p:sp>
      <p:sp>
        <p:nvSpPr>
          <p:cNvPr id="3" name="Text 1"/>
          <p:cNvSpPr/>
          <p:nvPr/>
        </p:nvSpPr>
        <p:spPr>
          <a:xfrm>
            <a:off x="457200" y="1005840"/>
            <a:ext cx="3840480" cy="320040"/>
          </a:xfrm>
          <a:prstGeom prst="rect">
            <a:avLst/>
          </a:prstGeom>
          <a:noFill/>
          <a:ln/>
        </p:spPr>
        <p:txBody>
          <a:bodyPr wrap="square" rtlCol="0" anchor="ctr"/>
          <a:lstStyle/>
          <a:p>
            <a:pPr indent="0" marL="0">
              <a:buNone/>
            </a:pPr>
            <a:r>
              <a:rPr lang="en-US" sz="1400" b="1" dirty="0">
                <a:solidFill>
                  <a:srgbClr val="44BB99"/>
                </a:solidFill>
                <a:latin typeface="Arial" pitchFamily="34" charset="0"/>
                <a:ea typeface="Arial" pitchFamily="34" charset="-122"/>
                <a:cs typeface="Arial" pitchFamily="34" charset="-120"/>
              </a:rPr>
              <a:t>Headings: Inter / Arial</a:t>
            </a:r>
            <a:endParaRPr lang="en-US" sz="1400" dirty="0"/>
          </a:p>
        </p:txBody>
      </p:sp>
      <p:sp>
        <p:nvSpPr>
          <p:cNvPr id="4" name="Text 2"/>
          <p:cNvSpPr/>
          <p:nvPr/>
        </p:nvSpPr>
        <p:spPr>
          <a:xfrm>
            <a:off x="457200" y="1371600"/>
            <a:ext cx="3840480" cy="640080"/>
          </a:xfrm>
          <a:prstGeom prst="rect">
            <a:avLst/>
          </a:prstGeom>
          <a:noFill/>
          <a:ln/>
        </p:spPr>
        <p:txBody>
          <a:bodyPr wrap="square" rtlCol="0" anchor="ctr"/>
          <a:lstStyle/>
          <a:p>
            <a:pPr indent="0" marL="0">
              <a:buNone/>
            </a:pPr>
            <a:r>
              <a:rPr lang="en-US" sz="3600" b="1" dirty="0">
                <a:solidFill>
                  <a:srgbClr val="1E293B"/>
                </a:solidFill>
                <a:latin typeface="Arial" pitchFamily="34" charset="0"/>
                <a:ea typeface="Arial" pitchFamily="34" charset="-122"/>
                <a:cs typeface="Arial" pitchFamily="34" charset="-120"/>
              </a:rPr>
              <a:t>Aa Bb Cc 123</a:t>
            </a:r>
            <a:endParaRPr lang="en-US" sz="3600" dirty="0"/>
          </a:p>
        </p:txBody>
      </p:sp>
      <p:sp>
        <p:nvSpPr>
          <p:cNvPr id="5" name="Text 3"/>
          <p:cNvSpPr/>
          <p:nvPr/>
        </p:nvSpPr>
        <p:spPr>
          <a:xfrm>
            <a:off x="4572000" y="1005840"/>
            <a:ext cx="4114800" cy="320040"/>
          </a:xfrm>
          <a:prstGeom prst="rect">
            <a:avLst/>
          </a:prstGeom>
          <a:noFill/>
          <a:ln/>
        </p:spPr>
        <p:txBody>
          <a:bodyPr wrap="square" rtlCol="0" anchor="ctr"/>
          <a:lstStyle/>
          <a:p>
            <a:pPr indent="0" marL="0">
              <a:buNone/>
            </a:pPr>
            <a:r>
              <a:rPr lang="en-US" sz="1400" b="1" dirty="0">
                <a:solidFill>
                  <a:srgbClr val="44BB99"/>
                </a:solidFill>
                <a:latin typeface="Arial" pitchFamily="34" charset="0"/>
                <a:ea typeface="Arial" pitchFamily="34" charset="-122"/>
                <a:cs typeface="Arial" pitchFamily="34" charset="-120"/>
              </a:rPr>
              <a:t>Body: Inter / Arial</a:t>
            </a:r>
            <a:endParaRPr lang="en-US" sz="1400" dirty="0"/>
          </a:p>
        </p:txBody>
      </p:sp>
      <p:sp>
        <p:nvSpPr>
          <p:cNvPr id="6" name="Text 4"/>
          <p:cNvSpPr/>
          <p:nvPr/>
        </p:nvSpPr>
        <p:spPr>
          <a:xfrm>
            <a:off x="4572000" y="1371600"/>
            <a:ext cx="4114800" cy="640080"/>
          </a:xfrm>
          <a:prstGeom prst="rect">
            <a:avLst/>
          </a:prstGeom>
          <a:noFill/>
          <a:ln/>
        </p:spPr>
        <p:txBody>
          <a:bodyPr wrap="square" rtlCol="0" anchor="ctr"/>
          <a:lstStyle/>
          <a:p>
            <a:pPr indent="0" marL="0">
              <a:buNone/>
            </a:pPr>
            <a:r>
              <a:rPr lang="en-US" sz="2800" dirty="0">
                <a:solidFill>
                  <a:srgbClr val="1E293B"/>
                </a:solidFill>
                <a:latin typeface="Arial" pitchFamily="34" charset="0"/>
                <a:ea typeface="Arial" pitchFamily="34" charset="-122"/>
                <a:cs typeface="Arial" pitchFamily="34" charset="-120"/>
              </a:rPr>
              <a:t>Aa Bb Cc 123</a:t>
            </a:r>
            <a:endParaRPr lang="en-US" sz="2800" dirty="0"/>
          </a:p>
        </p:txBody>
      </p:sp>
      <p:sp>
        <p:nvSpPr>
          <p:cNvPr id="7" name="Text 5"/>
          <p:cNvSpPr/>
          <p:nvPr/>
        </p:nvSpPr>
        <p:spPr>
          <a:xfrm>
            <a:off x="457200" y="2194560"/>
            <a:ext cx="8229600" cy="320040"/>
          </a:xfrm>
          <a:prstGeom prst="rect">
            <a:avLst/>
          </a:prstGeom>
          <a:noFill/>
          <a:ln/>
        </p:spPr>
        <p:txBody>
          <a:bodyPr wrap="square" rtlCol="0" anchor="ctr"/>
          <a:lstStyle/>
          <a:p>
            <a:pPr indent="0" marL="0">
              <a:buNone/>
            </a:pPr>
            <a:r>
              <a:rPr lang="en-US" sz="1400" b="1" dirty="0">
                <a:solidFill>
                  <a:srgbClr val="44BB99"/>
                </a:solidFill>
                <a:latin typeface="Arial" pitchFamily="34" charset="0"/>
                <a:ea typeface="Arial" pitchFamily="34" charset="-122"/>
                <a:cs typeface="Arial" pitchFamily="34" charset="-120"/>
              </a:rPr>
              <a:t>Type Scale</a:t>
            </a:r>
            <a:endParaRPr lang="en-US" sz="1400" dirty="0"/>
          </a:p>
        </p:txBody>
      </p:sp>
      <p:sp>
        <p:nvSpPr>
          <p:cNvPr id="8" name="Text 6"/>
          <p:cNvSpPr/>
          <p:nvPr/>
        </p:nvSpPr>
        <p:spPr>
          <a:xfrm>
            <a:off x="457200" y="2560320"/>
            <a:ext cx="1097280" cy="457200"/>
          </a:xfrm>
          <a:prstGeom prst="rect">
            <a:avLst/>
          </a:prstGeom>
          <a:noFill/>
          <a:ln/>
        </p:spPr>
        <p:txBody>
          <a:bodyPr wrap="square" rtlCol="0" anchor="ctr"/>
          <a:lstStyle/>
          <a:p>
            <a:pPr indent="0" marL="0">
              <a:buNone/>
            </a:pPr>
            <a:r>
              <a:rPr lang="en-US" sz="1200" b="1" dirty="0">
                <a:solidFill>
                  <a:srgbClr val="1E293B"/>
                </a:solidFill>
                <a:latin typeface="Arial" pitchFamily="34" charset="0"/>
                <a:ea typeface="Arial" pitchFamily="34" charset="-122"/>
                <a:cs typeface="Arial" pitchFamily="34" charset="-120"/>
              </a:rPr>
              <a:t>36-44pt</a:t>
            </a:r>
            <a:endParaRPr lang="en-US" sz="1200" dirty="0"/>
          </a:p>
        </p:txBody>
      </p:sp>
      <p:sp>
        <p:nvSpPr>
          <p:cNvPr id="9" name="Text 7"/>
          <p:cNvSpPr/>
          <p:nvPr/>
        </p:nvSpPr>
        <p:spPr>
          <a:xfrm>
            <a:off x="1645920" y="2560320"/>
            <a:ext cx="1828800" cy="45720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Page titles</a:t>
            </a:r>
            <a:endParaRPr lang="en-US" sz="1200" dirty="0"/>
          </a:p>
        </p:txBody>
      </p:sp>
      <p:sp>
        <p:nvSpPr>
          <p:cNvPr id="10" name="Text 8"/>
          <p:cNvSpPr/>
          <p:nvPr/>
        </p:nvSpPr>
        <p:spPr>
          <a:xfrm>
            <a:off x="3657600" y="2560320"/>
            <a:ext cx="5029200" cy="457200"/>
          </a:xfrm>
          <a:prstGeom prst="rect">
            <a:avLst/>
          </a:prstGeom>
          <a:noFill/>
          <a:ln/>
        </p:spPr>
        <p:txBody>
          <a:bodyPr wrap="square" rtlCol="0" anchor="ctr"/>
          <a:lstStyle/>
          <a:p>
            <a:pPr indent="0" marL="0">
              <a:buNone/>
            </a:pPr>
            <a:r>
              <a:rPr lang="en-US" sz="1200" dirty="0">
                <a:solidFill>
                  <a:srgbClr val="1E293B"/>
                </a:solidFill>
                <a:latin typeface="Arial" pitchFamily="34" charset="0"/>
                <a:ea typeface="Arial" pitchFamily="34" charset="-122"/>
                <a:cs typeface="Arial" pitchFamily="34" charset="-120"/>
              </a:rPr>
              <a:t>URPX Brand</a:t>
            </a:r>
            <a:endParaRPr lang="en-US" sz="1200" dirty="0"/>
          </a:p>
        </p:txBody>
      </p:sp>
      <p:sp>
        <p:nvSpPr>
          <p:cNvPr id="11" name="Text 9"/>
          <p:cNvSpPr/>
          <p:nvPr/>
        </p:nvSpPr>
        <p:spPr>
          <a:xfrm>
            <a:off x="457200" y="3108960"/>
            <a:ext cx="1097280" cy="457200"/>
          </a:xfrm>
          <a:prstGeom prst="rect">
            <a:avLst/>
          </a:prstGeom>
          <a:noFill/>
          <a:ln/>
        </p:spPr>
        <p:txBody>
          <a:bodyPr wrap="square" rtlCol="0" anchor="ctr"/>
          <a:lstStyle/>
          <a:p>
            <a:pPr indent="0" marL="0">
              <a:buNone/>
            </a:pPr>
            <a:r>
              <a:rPr lang="en-US" sz="1200" b="1" dirty="0">
                <a:solidFill>
                  <a:srgbClr val="1E293B"/>
                </a:solidFill>
                <a:latin typeface="Arial" pitchFamily="34" charset="0"/>
                <a:ea typeface="Arial" pitchFamily="34" charset="-122"/>
                <a:cs typeface="Arial" pitchFamily="34" charset="-120"/>
              </a:rPr>
              <a:t>24-28pt</a:t>
            </a:r>
            <a:endParaRPr lang="en-US" sz="1200" dirty="0"/>
          </a:p>
        </p:txBody>
      </p:sp>
      <p:sp>
        <p:nvSpPr>
          <p:cNvPr id="12" name="Text 10"/>
          <p:cNvSpPr/>
          <p:nvPr/>
        </p:nvSpPr>
        <p:spPr>
          <a:xfrm>
            <a:off x="1645920" y="3108960"/>
            <a:ext cx="1828800" cy="45720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Section headers</a:t>
            </a:r>
            <a:endParaRPr lang="en-US" sz="1200" dirty="0"/>
          </a:p>
        </p:txBody>
      </p:sp>
      <p:sp>
        <p:nvSpPr>
          <p:cNvPr id="13" name="Text 11"/>
          <p:cNvSpPr/>
          <p:nvPr/>
        </p:nvSpPr>
        <p:spPr>
          <a:xfrm>
            <a:off x="3657600" y="3108960"/>
            <a:ext cx="5029200" cy="457200"/>
          </a:xfrm>
          <a:prstGeom prst="rect">
            <a:avLst/>
          </a:prstGeom>
          <a:noFill/>
          <a:ln/>
        </p:spPr>
        <p:txBody>
          <a:bodyPr wrap="square" rtlCol="0" anchor="ctr"/>
          <a:lstStyle/>
          <a:p>
            <a:pPr indent="0" marL="0">
              <a:buNone/>
            </a:pPr>
            <a:r>
              <a:rPr lang="en-US" sz="1200" dirty="0">
                <a:solidFill>
                  <a:srgbClr val="1E293B"/>
                </a:solidFill>
                <a:latin typeface="Arial" pitchFamily="34" charset="0"/>
                <a:ea typeface="Arial" pitchFamily="34" charset="-122"/>
                <a:cs typeface="Arial" pitchFamily="34" charset="-120"/>
              </a:rPr>
              <a:t>Color Palette</a:t>
            </a:r>
            <a:endParaRPr lang="en-US" sz="1200" dirty="0"/>
          </a:p>
        </p:txBody>
      </p:sp>
      <p:sp>
        <p:nvSpPr>
          <p:cNvPr id="14" name="Text 12"/>
          <p:cNvSpPr/>
          <p:nvPr/>
        </p:nvSpPr>
        <p:spPr>
          <a:xfrm>
            <a:off x="457200" y="3657600"/>
            <a:ext cx="1097280" cy="457200"/>
          </a:xfrm>
          <a:prstGeom prst="rect">
            <a:avLst/>
          </a:prstGeom>
          <a:noFill/>
          <a:ln/>
        </p:spPr>
        <p:txBody>
          <a:bodyPr wrap="square" rtlCol="0" anchor="ctr"/>
          <a:lstStyle/>
          <a:p>
            <a:pPr indent="0" marL="0">
              <a:buNone/>
            </a:pPr>
            <a:r>
              <a:rPr lang="en-US" sz="1200" b="1" dirty="0">
                <a:solidFill>
                  <a:srgbClr val="1E293B"/>
                </a:solidFill>
                <a:latin typeface="Arial" pitchFamily="34" charset="0"/>
                <a:ea typeface="Arial" pitchFamily="34" charset="-122"/>
                <a:cs typeface="Arial" pitchFamily="34" charset="-120"/>
              </a:rPr>
              <a:t>14-16pt</a:t>
            </a:r>
            <a:endParaRPr lang="en-US" sz="1200" dirty="0"/>
          </a:p>
        </p:txBody>
      </p:sp>
      <p:sp>
        <p:nvSpPr>
          <p:cNvPr id="15" name="Text 13"/>
          <p:cNvSpPr/>
          <p:nvPr/>
        </p:nvSpPr>
        <p:spPr>
          <a:xfrm>
            <a:off x="1645920" y="3657600"/>
            <a:ext cx="1828800" cy="45720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Body text</a:t>
            </a:r>
            <a:endParaRPr lang="en-US" sz="1200" dirty="0"/>
          </a:p>
        </p:txBody>
      </p:sp>
      <p:sp>
        <p:nvSpPr>
          <p:cNvPr id="16" name="Text 14"/>
          <p:cNvSpPr/>
          <p:nvPr/>
        </p:nvSpPr>
        <p:spPr>
          <a:xfrm>
            <a:off x="3657600" y="3657600"/>
            <a:ext cx="5029200" cy="457200"/>
          </a:xfrm>
          <a:prstGeom prst="rect">
            <a:avLst/>
          </a:prstGeom>
          <a:noFill/>
          <a:ln/>
        </p:spPr>
        <p:txBody>
          <a:bodyPr wrap="square" rtlCol="0" anchor="ctr"/>
          <a:lstStyle/>
          <a:p>
            <a:pPr indent="0" marL="0">
              <a:buNone/>
            </a:pPr>
            <a:r>
              <a:rPr lang="en-US" sz="1200" dirty="0">
                <a:solidFill>
                  <a:srgbClr val="1E293B"/>
                </a:solidFill>
                <a:latin typeface="Arial" pitchFamily="34" charset="0"/>
                <a:ea typeface="Arial" pitchFamily="34" charset="-122"/>
                <a:cs typeface="Arial" pitchFamily="34" charset="-120"/>
              </a:rPr>
              <a:t>Rate plan data exchange...</a:t>
            </a:r>
            <a:endParaRPr lang="en-US" sz="1200" dirty="0"/>
          </a:p>
        </p:txBody>
      </p:sp>
      <p:sp>
        <p:nvSpPr>
          <p:cNvPr id="17" name="Text 15"/>
          <p:cNvSpPr/>
          <p:nvPr/>
        </p:nvSpPr>
        <p:spPr>
          <a:xfrm>
            <a:off x="457200" y="4206240"/>
            <a:ext cx="1097280" cy="457200"/>
          </a:xfrm>
          <a:prstGeom prst="rect">
            <a:avLst/>
          </a:prstGeom>
          <a:noFill/>
          <a:ln/>
        </p:spPr>
        <p:txBody>
          <a:bodyPr wrap="square" rtlCol="0" anchor="ctr"/>
          <a:lstStyle/>
          <a:p>
            <a:pPr indent="0" marL="0">
              <a:buNone/>
            </a:pPr>
            <a:r>
              <a:rPr lang="en-US" sz="1200" b="1" dirty="0">
                <a:solidFill>
                  <a:srgbClr val="1E293B"/>
                </a:solidFill>
                <a:latin typeface="Arial" pitchFamily="34" charset="0"/>
                <a:ea typeface="Arial" pitchFamily="34" charset="-122"/>
                <a:cs typeface="Arial" pitchFamily="34" charset="-120"/>
              </a:rPr>
              <a:t>10-12pt</a:t>
            </a:r>
            <a:endParaRPr lang="en-US" sz="1200" dirty="0"/>
          </a:p>
        </p:txBody>
      </p:sp>
      <p:sp>
        <p:nvSpPr>
          <p:cNvPr id="18" name="Text 16"/>
          <p:cNvSpPr/>
          <p:nvPr/>
        </p:nvSpPr>
        <p:spPr>
          <a:xfrm>
            <a:off x="1645920" y="4206240"/>
            <a:ext cx="1828800" cy="45720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Captions, footnotes</a:t>
            </a:r>
            <a:endParaRPr lang="en-US" sz="1200" dirty="0"/>
          </a:p>
        </p:txBody>
      </p:sp>
      <p:sp>
        <p:nvSpPr>
          <p:cNvPr id="19" name="Text 17"/>
          <p:cNvSpPr/>
          <p:nvPr/>
        </p:nvSpPr>
        <p:spPr>
          <a:xfrm>
            <a:off x="3657600" y="4206240"/>
            <a:ext cx="5029200" cy="457200"/>
          </a:xfrm>
          <a:prstGeom prst="rect">
            <a:avLst/>
          </a:prstGeom>
          <a:noFill/>
          <a:ln/>
        </p:spPr>
        <p:txBody>
          <a:bodyPr wrap="square" rtlCol="0" anchor="ctr"/>
          <a:lstStyle/>
          <a:p>
            <a:pPr indent="0" marL="0">
              <a:buNone/>
            </a:pPr>
            <a:r>
              <a:rPr lang="en-US" sz="1200" dirty="0">
                <a:solidFill>
                  <a:srgbClr val="1E293B"/>
                </a:solidFill>
                <a:latin typeface="Arial" pitchFamily="34" charset="0"/>
                <a:ea typeface="Arial" pitchFamily="34" charset="-122"/>
                <a:cs typeface="Arial" pitchFamily="34" charset="-120"/>
              </a:rPr>
              <a:t>Source: NLR, 2025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3200" b="1" dirty="0">
                <a:solidFill>
                  <a:srgbClr val="1E293B"/>
                </a:solidFill>
                <a:latin typeface="Arial" pitchFamily="34" charset="0"/>
                <a:ea typeface="Arial" pitchFamily="34" charset="-122"/>
                <a:cs typeface="Arial" pitchFamily="34" charset="-120"/>
              </a:rPr>
              <a:t>Terminology Standards</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indent="0" marL="0">
              <a:buNone/>
            </a:pPr>
            <a:r>
              <a:rPr lang="en-US" sz="1300" i="1" dirty="0">
                <a:solidFill>
                  <a:srgbClr val="64748B"/>
                </a:solidFill>
                <a:latin typeface="Arial" pitchFamily="34" charset="0"/>
                <a:ea typeface="Arial" pitchFamily="34" charset="-122"/>
                <a:cs typeface="Arial" pitchFamily="34" charset="-120"/>
              </a:rPr>
              <a:t>Consistent language builds recognition. Use these terms in all communications.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2560320"/>
        </p:xfrm>
        <a:graphic>
          <a:graphicData uri="http://schemas.openxmlformats.org/drawingml/2006/table">
            <a:tbl>
              <a:tblPr/>
              <a:tblGrid>
                <a:gridCol w="4114800"/>
                <a:gridCol w="4114800"/>
              </a:tblGrid>
              <a:tr h="36576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 Use</a:t>
                      </a:r>
                      <a:endParaRPr lang="en-US" sz="1200" dirty="0">
                        <a:latin typeface="Arial" charset="0"/>
                        <a:ea typeface="Arial" charset="0"/>
                        <a:cs typeface="Arial" charset="0"/>
                      </a:endParaRPr>
                    </a:p>
                  </a:txBody>
                  <a:tcPr marL="91440" marR="91440" marT="45720" marB="45720"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 Avoid</a:t>
                      </a:r>
                      <a:endParaRPr lang="en-US" sz="1200" dirty="0">
                        <a:latin typeface="Arial" charset="0"/>
                        <a:ea typeface="Arial" charset="0"/>
                        <a:cs typeface="Arial" charset="0"/>
                      </a:endParaRPr>
                    </a:p>
                  </a:txBody>
                  <a:tcPr marL="91440" marR="91440" marT="45720" marB="45720"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tcPr>
                </a:tc>
              </a:tr>
              <a:tr h="36576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Rate plan</a:t>
                      </a:r>
                      <a:endParaRPr lang="en-US" sz="1200" dirty="0">
                        <a:latin typeface="Arial" charset="0"/>
                        <a:ea typeface="Arial" charset="0"/>
                        <a:cs typeface="Arial" charset="0"/>
                      </a:endParaRPr>
                    </a:p>
                  </a:txBody>
                  <a:tcPr marL="91440" marR="91440" marT="45720" marB="45720"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Rate, tariff, rate schedule</a:t>
                      </a:r>
                      <a:endParaRPr lang="en-US" sz="1200" dirty="0">
                        <a:latin typeface="Arial" charset="0"/>
                        <a:ea typeface="Arial" charset="0"/>
                        <a:cs typeface="Arial" charset="0"/>
                      </a:endParaRPr>
                    </a:p>
                  </a:txBody>
                  <a:tcPr marL="91440" marR="91440" marT="45720" marB="45720"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tcPr>
                </a:tc>
              </a:tr>
              <a:tr h="36576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Rate plan data</a:t>
                      </a:r>
                      <a:endParaRPr lang="en-US" sz="1200" dirty="0">
                        <a:latin typeface="Arial" charset="0"/>
                        <a:ea typeface="Arial" charset="0"/>
                        <a:cs typeface="Arial" charset="0"/>
                      </a:endParaRPr>
                    </a:p>
                  </a:txBody>
                  <a:tcPr marL="91440" marR="91440" marT="45720" marB="45720"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Rate data, tariff data</a:t>
                      </a:r>
                      <a:endParaRPr lang="en-US" sz="1200" dirty="0">
                        <a:latin typeface="Arial" charset="0"/>
                        <a:ea typeface="Arial" charset="0"/>
                        <a:cs typeface="Arial" charset="0"/>
                      </a:endParaRPr>
                    </a:p>
                  </a:txBody>
                  <a:tcPr marL="91440" marR="91440" marT="45720" marB="45720"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tcPr>
                </a:tc>
              </a:tr>
              <a:tr h="36576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Charge</a:t>
                      </a:r>
                      <a:endParaRPr lang="en-US" sz="1200" dirty="0">
                        <a:latin typeface="Arial" charset="0"/>
                        <a:ea typeface="Arial" charset="0"/>
                        <a:cs typeface="Arial" charset="0"/>
                      </a:endParaRPr>
                    </a:p>
                  </a:txBody>
                  <a:tcPr marL="91440" marR="91440" marT="45720" marB="45720"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Fee, cost component</a:t>
                      </a:r>
                      <a:endParaRPr lang="en-US" sz="1200" dirty="0">
                        <a:latin typeface="Arial" charset="0"/>
                        <a:ea typeface="Arial" charset="0"/>
                        <a:cs typeface="Arial" charset="0"/>
                      </a:endParaRPr>
                    </a:p>
                  </a:txBody>
                  <a:tcPr marL="91440" marR="91440" marT="45720" marB="45720"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tcPr>
                </a:tc>
              </a:tr>
              <a:tr h="36576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Customer profile</a:t>
                      </a:r>
                      <a:endParaRPr lang="en-US" sz="1200" dirty="0">
                        <a:latin typeface="Arial" charset="0"/>
                        <a:ea typeface="Arial" charset="0"/>
                        <a:cs typeface="Arial" charset="0"/>
                      </a:endParaRPr>
                    </a:p>
                  </a:txBody>
                  <a:tcPr marL="91440" marR="91440" marT="45720" marB="45720"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Customer type, class</a:t>
                      </a:r>
                      <a:endParaRPr lang="en-US" sz="1200" dirty="0">
                        <a:latin typeface="Arial" charset="0"/>
                        <a:ea typeface="Arial" charset="0"/>
                        <a:cs typeface="Arial" charset="0"/>
                      </a:endParaRPr>
                    </a:p>
                  </a:txBody>
                  <a:tcPr marL="91440" marR="91440" marT="45720" marB="45720"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tcPr>
                </a:tc>
              </a:tr>
              <a:tr h="36576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Eligibility rule</a:t>
                      </a:r>
                      <a:endParaRPr lang="en-US" sz="1200" dirty="0">
                        <a:latin typeface="Arial" charset="0"/>
                        <a:ea typeface="Arial" charset="0"/>
                        <a:cs typeface="Arial" charset="0"/>
                      </a:endParaRPr>
                    </a:p>
                  </a:txBody>
                  <a:tcPr marL="91440" marR="91440" marT="45720" marB="45720"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Qualification, requirement</a:t>
                      </a:r>
                      <a:endParaRPr lang="en-US" sz="1200" dirty="0">
                        <a:latin typeface="Arial" charset="0"/>
                        <a:ea typeface="Arial" charset="0"/>
                        <a:cs typeface="Arial" charset="0"/>
                      </a:endParaRPr>
                    </a:p>
                  </a:txBody>
                  <a:tcPr marL="91440" marR="91440" marT="45720" marB="45720"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tcPr>
                </a:tc>
              </a:tr>
              <a:tr h="365760">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NLR</a:t>
                      </a:r>
                      <a:endParaRPr lang="en-US" sz="1200" dirty="0">
                        <a:latin typeface="Arial" charset="0"/>
                        <a:ea typeface="Arial" charset="0"/>
                        <a:cs typeface="Arial" charset="0"/>
                      </a:endParaRPr>
                    </a:p>
                  </a:txBody>
                  <a:tcPr marL="91440" marR="91440" marT="45720" marB="45720"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tcPr>
                </a:tc>
                <a:tc>
                  <a:txBody>
                    <a:bodyPr/>
                    <a:lstStyle/>
                    <a:p>
                      <a:pPr algn="l" indent="0" marL="0">
                        <a:buNone/>
                      </a:pPr>
                      <a:r>
                        <a:rPr lang="en-US" sz="1200" dirty="0">
                          <a:solidFill>
                            <a:srgbClr val="1E293B"/>
                          </a:solidFill>
                          <a:latin typeface="Arial" pitchFamily="34" charset="0"/>
                          <a:ea typeface="Arial" pitchFamily="34" charset="-122"/>
                          <a:cs typeface="Arial" pitchFamily="34" charset="-120"/>
                        </a:rPr>
                        <a:t>NREL</a:t>
                      </a:r>
                      <a:endParaRPr lang="en-US" sz="1200" dirty="0">
                        <a:latin typeface="Arial" charset="0"/>
                        <a:ea typeface="Arial" charset="0"/>
                        <a:cs typeface="Arial" charset="0"/>
                      </a:endParaRPr>
                    </a:p>
                  </a:txBody>
                  <a:tcPr marL="91440" marR="91440" marT="45720" marB="45720" anchor="ctr">
                    <a:lnL w="6350" cap="flat" cmpd="sng" algn="ctr">
                      <a:solidFill>
                        <a:srgbClr val="666666"/>
                      </a:solidFill>
                      <a:prstDash val="solid"/>
                      <a:round/>
                      <a:headEnd type="none" w="med" len="med"/>
                      <a:tailEnd type="none" w="med" len="med"/>
                    </a:lnL>
                    <a:lnR w="6350" cap="flat" cmpd="sng" algn="ctr">
                      <a:solidFill>
                        <a:srgbClr val="666666"/>
                      </a:solidFill>
                      <a:prstDash val="solid"/>
                      <a:round/>
                      <a:headEnd type="none" w="med" len="med"/>
                      <a:tailEnd type="none" w="med" len="med"/>
                    </a:lnR>
                    <a:lnT w="6350" cap="flat" cmpd="sng" algn="ctr">
                      <a:solidFill>
                        <a:srgbClr val="666666"/>
                      </a:solidFill>
                      <a:prstDash val="solid"/>
                      <a:round/>
                      <a:headEnd type="none" w="med" len="med"/>
                      <a:tailEnd type="none" w="med" len="med"/>
                    </a:lnT>
                    <a:lnB w="6350" cap="flat" cmpd="sng" algn="ctr">
                      <a:solidFill>
                        <a:srgbClr val="666666"/>
                      </a:solidFill>
                      <a:prstDash val="solid"/>
                      <a:round/>
                      <a:headEnd type="none" w="med" len="med"/>
                      <a:tailEnd type="none" w="med" len="med"/>
                    </a:lnB>
                  </a:tcPr>
                </a:tc>
              </a:tr>
            </a:tbl>
          </a:graphicData>
        </a:graphic>
      </p:graphicFrame>
      <p:sp>
        <p:nvSpPr>
          <p:cNvPr id="5" name="Shape 2"/>
          <p:cNvSpPr/>
          <p:nvPr/>
        </p:nvSpPr>
        <p:spPr>
          <a:xfrm>
            <a:off x="457200" y="4114800"/>
            <a:ext cx="8229600" cy="914400"/>
          </a:xfrm>
          <a:prstGeom prst="rect">
            <a:avLst/>
          </a:prstGeom>
          <a:solidFill>
            <a:srgbClr val="F8FAFC"/>
          </a:solidFill>
          <a:ln/>
        </p:spPr>
      </p:sp>
      <p:sp>
        <p:nvSpPr>
          <p:cNvPr id="6" name="Text 3"/>
          <p:cNvSpPr/>
          <p:nvPr/>
        </p:nvSpPr>
        <p:spPr>
          <a:xfrm>
            <a:off x="640080" y="4206240"/>
            <a:ext cx="7863840" cy="274320"/>
          </a:xfrm>
          <a:prstGeom prst="rect">
            <a:avLst/>
          </a:prstGeom>
          <a:noFill/>
          <a:ln/>
        </p:spPr>
        <p:txBody>
          <a:bodyPr wrap="square" rtlCol="0" anchor="ctr"/>
          <a:lstStyle/>
          <a:p>
            <a:pPr indent="0" marL="0">
              <a:buNone/>
            </a:pPr>
            <a:r>
              <a:rPr lang="en-US" sz="1100" b="1" dirty="0">
                <a:solidFill>
                  <a:srgbClr val="44BB99"/>
                </a:solidFill>
                <a:latin typeface="Arial" pitchFamily="34" charset="0"/>
                <a:ea typeface="Arial" pitchFamily="34" charset="-122"/>
                <a:cs typeface="Arial" pitchFamily="34" charset="-120"/>
              </a:rPr>
              <a:t>Key Phrase</a:t>
            </a:r>
            <a:endParaRPr lang="en-US" sz="1100" dirty="0"/>
          </a:p>
        </p:txBody>
      </p:sp>
      <p:sp>
        <p:nvSpPr>
          <p:cNvPr id="7" name="Text 4"/>
          <p:cNvSpPr/>
          <p:nvPr/>
        </p:nvSpPr>
        <p:spPr>
          <a:xfrm>
            <a:off x="640080" y="4480560"/>
            <a:ext cx="7863840" cy="457200"/>
          </a:xfrm>
          <a:prstGeom prst="rect">
            <a:avLst/>
          </a:prstGeom>
          <a:noFill/>
          <a:ln/>
        </p:spPr>
        <p:txBody>
          <a:bodyPr wrap="square" rtlCol="0" anchor="ctr"/>
          <a:lstStyle/>
          <a:p>
            <a:pPr indent="0" marL="0">
              <a:buNone/>
            </a:pPr>
            <a:r>
              <a:rPr lang="en-US" sz="1300" i="1" dirty="0">
                <a:solidFill>
                  <a:srgbClr val="1E293B"/>
                </a:solidFill>
                <a:latin typeface="Arial" pitchFamily="34" charset="0"/>
                <a:ea typeface="Arial" pitchFamily="34" charset="-122"/>
                <a:cs typeface="Arial" pitchFamily="34" charset="-120"/>
              </a:rPr>
              <a:t>"URPX acts as the semantic switchboard for transforming flat rate plan data into structured rate plans with executable cost modeling instructions."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3200" b="1" dirty="0">
                <a:solidFill>
                  <a:srgbClr val="1E293B"/>
                </a:solidFill>
                <a:latin typeface="Arial" pitchFamily="34" charset="0"/>
                <a:ea typeface="Arial" pitchFamily="34" charset="-122"/>
                <a:cs typeface="Arial" pitchFamily="34" charset="-120"/>
              </a:rPr>
              <a:t>Voice &amp; Tone</a:t>
            </a:r>
            <a:endParaRPr lang="en-US" sz="3200" dirty="0"/>
          </a:p>
        </p:txBody>
      </p:sp>
      <p:sp>
        <p:nvSpPr>
          <p:cNvPr id="3" name="Shape 1"/>
          <p:cNvSpPr/>
          <p:nvPr/>
        </p:nvSpPr>
        <p:spPr>
          <a:xfrm>
            <a:off x="457200" y="1097280"/>
            <a:ext cx="2651760" cy="1097280"/>
          </a:xfrm>
          <a:prstGeom prst="rect">
            <a:avLst/>
          </a:prstGeom>
          <a:solidFill>
            <a:srgbClr val="F8FAFC"/>
          </a:solidFill>
          <a:ln/>
        </p:spPr>
      </p:sp>
      <p:sp>
        <p:nvSpPr>
          <p:cNvPr id="4" name="Shape 2"/>
          <p:cNvSpPr/>
          <p:nvPr/>
        </p:nvSpPr>
        <p:spPr>
          <a:xfrm>
            <a:off x="457200" y="1097280"/>
            <a:ext cx="73152" cy="1097280"/>
          </a:xfrm>
          <a:prstGeom prst="rect">
            <a:avLst/>
          </a:prstGeom>
          <a:solidFill>
            <a:srgbClr val="44BB99"/>
          </a:solidFill>
          <a:ln/>
        </p:spPr>
      </p:sp>
      <p:sp>
        <p:nvSpPr>
          <p:cNvPr id="5" name="Text 3"/>
          <p:cNvSpPr/>
          <p:nvPr/>
        </p:nvSpPr>
        <p:spPr>
          <a:xfrm>
            <a:off x="640080" y="1234440"/>
            <a:ext cx="2286000" cy="320040"/>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Clear</a:t>
            </a:r>
            <a:endParaRPr lang="en-US" sz="1400" dirty="0"/>
          </a:p>
        </p:txBody>
      </p:sp>
      <p:sp>
        <p:nvSpPr>
          <p:cNvPr id="6" name="Text 4"/>
          <p:cNvSpPr/>
          <p:nvPr/>
        </p:nvSpPr>
        <p:spPr>
          <a:xfrm>
            <a:off x="640080" y="1554480"/>
            <a:ext cx="2286000" cy="45720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No jargon without explanation</a:t>
            </a:r>
            <a:endParaRPr lang="en-US" sz="1100" dirty="0"/>
          </a:p>
        </p:txBody>
      </p:sp>
      <p:sp>
        <p:nvSpPr>
          <p:cNvPr id="7" name="Shape 5"/>
          <p:cNvSpPr/>
          <p:nvPr/>
        </p:nvSpPr>
        <p:spPr>
          <a:xfrm>
            <a:off x="3291840" y="1097280"/>
            <a:ext cx="2651760" cy="1097280"/>
          </a:xfrm>
          <a:prstGeom prst="rect">
            <a:avLst/>
          </a:prstGeom>
          <a:solidFill>
            <a:srgbClr val="F8FAFC"/>
          </a:solidFill>
          <a:ln/>
        </p:spPr>
      </p:sp>
      <p:sp>
        <p:nvSpPr>
          <p:cNvPr id="8" name="Shape 6"/>
          <p:cNvSpPr/>
          <p:nvPr/>
        </p:nvSpPr>
        <p:spPr>
          <a:xfrm>
            <a:off x="3291840" y="1097280"/>
            <a:ext cx="73152" cy="1097280"/>
          </a:xfrm>
          <a:prstGeom prst="rect">
            <a:avLst/>
          </a:prstGeom>
          <a:solidFill>
            <a:srgbClr val="44BB99"/>
          </a:solidFill>
          <a:ln/>
        </p:spPr>
      </p:sp>
      <p:sp>
        <p:nvSpPr>
          <p:cNvPr id="9" name="Text 7"/>
          <p:cNvSpPr/>
          <p:nvPr/>
        </p:nvSpPr>
        <p:spPr>
          <a:xfrm>
            <a:off x="3474720" y="1234440"/>
            <a:ext cx="2286000" cy="320040"/>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Direct</a:t>
            </a:r>
            <a:endParaRPr lang="en-US" sz="1400" dirty="0"/>
          </a:p>
        </p:txBody>
      </p:sp>
      <p:sp>
        <p:nvSpPr>
          <p:cNvPr id="10" name="Text 8"/>
          <p:cNvSpPr/>
          <p:nvPr/>
        </p:nvSpPr>
        <p:spPr>
          <a:xfrm>
            <a:off x="3474720" y="1554480"/>
            <a:ext cx="2286000" cy="45720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Say what needs to be said</a:t>
            </a:r>
            <a:endParaRPr lang="en-US" sz="1100" dirty="0"/>
          </a:p>
        </p:txBody>
      </p:sp>
      <p:sp>
        <p:nvSpPr>
          <p:cNvPr id="11" name="Shape 9"/>
          <p:cNvSpPr/>
          <p:nvPr/>
        </p:nvSpPr>
        <p:spPr>
          <a:xfrm>
            <a:off x="6126480" y="1097280"/>
            <a:ext cx="2651760" cy="1097280"/>
          </a:xfrm>
          <a:prstGeom prst="rect">
            <a:avLst/>
          </a:prstGeom>
          <a:solidFill>
            <a:srgbClr val="F8FAFC"/>
          </a:solidFill>
          <a:ln/>
        </p:spPr>
      </p:sp>
      <p:sp>
        <p:nvSpPr>
          <p:cNvPr id="12" name="Shape 10"/>
          <p:cNvSpPr/>
          <p:nvPr/>
        </p:nvSpPr>
        <p:spPr>
          <a:xfrm>
            <a:off x="6126480" y="1097280"/>
            <a:ext cx="73152" cy="1097280"/>
          </a:xfrm>
          <a:prstGeom prst="rect">
            <a:avLst/>
          </a:prstGeom>
          <a:solidFill>
            <a:srgbClr val="44BB99"/>
          </a:solidFill>
          <a:ln/>
        </p:spPr>
      </p:sp>
      <p:sp>
        <p:nvSpPr>
          <p:cNvPr id="13" name="Text 11"/>
          <p:cNvSpPr/>
          <p:nvPr/>
        </p:nvSpPr>
        <p:spPr>
          <a:xfrm>
            <a:off x="6309360" y="1234440"/>
            <a:ext cx="2286000" cy="320040"/>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Confident</a:t>
            </a:r>
            <a:endParaRPr lang="en-US" sz="1400" dirty="0"/>
          </a:p>
        </p:txBody>
      </p:sp>
      <p:sp>
        <p:nvSpPr>
          <p:cNvPr id="14" name="Text 12"/>
          <p:cNvSpPr/>
          <p:nvPr/>
        </p:nvSpPr>
        <p:spPr>
          <a:xfrm>
            <a:off x="6309360" y="1554480"/>
            <a:ext cx="2286000" cy="45720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We know this problem well</a:t>
            </a:r>
            <a:endParaRPr lang="en-US" sz="1100" dirty="0"/>
          </a:p>
        </p:txBody>
      </p:sp>
      <p:sp>
        <p:nvSpPr>
          <p:cNvPr id="15" name="Shape 13"/>
          <p:cNvSpPr/>
          <p:nvPr/>
        </p:nvSpPr>
        <p:spPr>
          <a:xfrm>
            <a:off x="457200" y="2377440"/>
            <a:ext cx="2651760" cy="1097280"/>
          </a:xfrm>
          <a:prstGeom prst="rect">
            <a:avLst/>
          </a:prstGeom>
          <a:solidFill>
            <a:srgbClr val="F8FAFC"/>
          </a:solidFill>
          <a:ln/>
        </p:spPr>
      </p:sp>
      <p:sp>
        <p:nvSpPr>
          <p:cNvPr id="16" name="Shape 14"/>
          <p:cNvSpPr/>
          <p:nvPr/>
        </p:nvSpPr>
        <p:spPr>
          <a:xfrm>
            <a:off x="457200" y="2377440"/>
            <a:ext cx="73152" cy="1097280"/>
          </a:xfrm>
          <a:prstGeom prst="rect">
            <a:avLst/>
          </a:prstGeom>
          <a:solidFill>
            <a:srgbClr val="44BB99"/>
          </a:solidFill>
          <a:ln/>
        </p:spPr>
      </p:sp>
      <p:sp>
        <p:nvSpPr>
          <p:cNvPr id="17" name="Text 15"/>
          <p:cNvSpPr/>
          <p:nvPr/>
        </p:nvSpPr>
        <p:spPr>
          <a:xfrm>
            <a:off x="640080" y="2514600"/>
            <a:ext cx="2286000" cy="320040"/>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Collaborative</a:t>
            </a:r>
            <a:endParaRPr lang="en-US" sz="1400" dirty="0"/>
          </a:p>
        </p:txBody>
      </p:sp>
      <p:sp>
        <p:nvSpPr>
          <p:cNvPr id="18" name="Text 16"/>
          <p:cNvSpPr/>
          <p:nvPr/>
        </p:nvSpPr>
        <p:spPr>
          <a:xfrm>
            <a:off x="640080" y="2834640"/>
            <a:ext cx="2286000" cy="45720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Community-first approach</a:t>
            </a:r>
            <a:endParaRPr lang="en-US" sz="1100" dirty="0"/>
          </a:p>
        </p:txBody>
      </p:sp>
      <p:sp>
        <p:nvSpPr>
          <p:cNvPr id="19" name="Shape 17"/>
          <p:cNvSpPr/>
          <p:nvPr/>
        </p:nvSpPr>
        <p:spPr>
          <a:xfrm>
            <a:off x="3291840" y="2377440"/>
            <a:ext cx="2651760" cy="1097280"/>
          </a:xfrm>
          <a:prstGeom prst="rect">
            <a:avLst/>
          </a:prstGeom>
          <a:solidFill>
            <a:srgbClr val="F8FAFC"/>
          </a:solidFill>
          <a:ln/>
        </p:spPr>
      </p:sp>
      <p:sp>
        <p:nvSpPr>
          <p:cNvPr id="20" name="Shape 18"/>
          <p:cNvSpPr/>
          <p:nvPr/>
        </p:nvSpPr>
        <p:spPr>
          <a:xfrm>
            <a:off x="3291840" y="2377440"/>
            <a:ext cx="73152" cy="1097280"/>
          </a:xfrm>
          <a:prstGeom prst="rect">
            <a:avLst/>
          </a:prstGeom>
          <a:solidFill>
            <a:srgbClr val="44BB99"/>
          </a:solidFill>
          <a:ln/>
        </p:spPr>
      </p:sp>
      <p:sp>
        <p:nvSpPr>
          <p:cNvPr id="21" name="Text 19"/>
          <p:cNvSpPr/>
          <p:nvPr/>
        </p:nvSpPr>
        <p:spPr>
          <a:xfrm>
            <a:off x="3474720" y="2514600"/>
            <a:ext cx="2286000" cy="320040"/>
          </a:xfrm>
          <a:prstGeom prst="rect">
            <a:avLst/>
          </a:prstGeom>
          <a:noFill/>
          <a:ln/>
        </p:spPr>
        <p:txBody>
          <a:bodyPr wrap="square" rtlCol="0" anchor="ctr"/>
          <a:lstStyle/>
          <a:p>
            <a:pPr indent="0" marL="0">
              <a:buNone/>
            </a:pPr>
            <a:r>
              <a:rPr lang="en-US" sz="1400" b="1" dirty="0">
                <a:solidFill>
                  <a:srgbClr val="1E293B"/>
                </a:solidFill>
                <a:latin typeface="Arial" pitchFamily="34" charset="0"/>
                <a:ea typeface="Arial" pitchFamily="34" charset="-122"/>
                <a:cs typeface="Arial" pitchFamily="34" charset="-120"/>
              </a:rPr>
              <a:t>Pragmatic</a:t>
            </a:r>
            <a:endParaRPr lang="en-US" sz="1400" dirty="0"/>
          </a:p>
        </p:txBody>
      </p:sp>
      <p:sp>
        <p:nvSpPr>
          <p:cNvPr id="22" name="Text 20"/>
          <p:cNvSpPr/>
          <p:nvPr/>
        </p:nvSpPr>
        <p:spPr>
          <a:xfrm>
            <a:off x="3474720" y="2834640"/>
            <a:ext cx="2286000" cy="45720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Focus on real problems</a:t>
            </a:r>
            <a:endParaRPr lang="en-US" sz="1100" dirty="0"/>
          </a:p>
        </p:txBody>
      </p:sp>
      <p:sp>
        <p:nvSpPr>
          <p:cNvPr id="23" name="Text 21"/>
          <p:cNvSpPr/>
          <p:nvPr/>
        </p:nvSpPr>
        <p:spPr>
          <a:xfrm>
            <a:off x="457200" y="3566160"/>
            <a:ext cx="3840480" cy="320040"/>
          </a:xfrm>
          <a:prstGeom prst="rect">
            <a:avLst/>
          </a:prstGeom>
          <a:noFill/>
          <a:ln/>
        </p:spPr>
        <p:txBody>
          <a:bodyPr wrap="square" rtlCol="0" anchor="ctr"/>
          <a:lstStyle/>
          <a:p>
            <a:pPr indent="0" marL="0">
              <a:buNone/>
            </a:pPr>
            <a:r>
              <a:rPr lang="en-US" sz="1400" b="1" dirty="0">
                <a:solidFill>
                  <a:srgbClr val="22C55E"/>
                </a:solidFill>
                <a:latin typeface="Arial" pitchFamily="34" charset="0"/>
                <a:ea typeface="Arial" pitchFamily="34" charset="-122"/>
                <a:cs typeface="Arial" pitchFamily="34" charset="-120"/>
              </a:rPr>
              <a:t>Do</a:t>
            </a:r>
            <a:endParaRPr lang="en-US" sz="1400" dirty="0"/>
          </a:p>
        </p:txBody>
      </p:sp>
      <p:sp>
        <p:nvSpPr>
          <p:cNvPr id="24" name="Text 22"/>
          <p:cNvSpPr/>
          <p:nvPr/>
        </p:nvSpPr>
        <p:spPr>
          <a:xfrm>
            <a:off x="457200" y="3886200"/>
            <a:ext cx="3840480" cy="1097280"/>
          </a:xfrm>
          <a:prstGeom prst="rect">
            <a:avLst/>
          </a:prstGeom>
          <a:noFill/>
          <a:ln/>
        </p:spPr>
        <p:txBody>
          <a:bodyPr wrap="square" rtlCol="0" anchor="ctr"/>
          <a:lstStyle/>
          <a:p>
            <a:pPr marL="342900" indent="-342900">
              <a:buSzPct val="100000"/>
              <a:buChar char="•"/>
            </a:pPr>
            <a:r>
              <a:rPr lang="en-US" sz="1100" dirty="0">
                <a:solidFill>
                  <a:srgbClr val="1E293B"/>
                </a:solidFill>
                <a:latin typeface="Arial" pitchFamily="34" charset="0"/>
                <a:ea typeface="Arial" pitchFamily="34" charset="-122"/>
                <a:cs typeface="Arial" pitchFamily="34" charset="-120"/>
              </a:rPr>
              <a:t>Use "rate plan" consistently</a:t>
            </a:r>
            <a:endParaRPr lang="en-US" sz="1100" dirty="0"/>
          </a:p>
          <a:p>
            <a:pPr marL="342900" indent="-342900">
              <a:buSzPct val="100000"/>
              <a:buChar char="•"/>
            </a:pPr>
            <a:r>
              <a:rPr lang="en-US" sz="1100" dirty="0">
                <a:solidFill>
                  <a:srgbClr val="1E293B"/>
                </a:solidFill>
                <a:latin typeface="Arial" pitchFamily="34" charset="0"/>
                <a:ea typeface="Arial" pitchFamily="34" charset="-122"/>
                <a:cs typeface="Arial" pitchFamily="34" charset="-120"/>
              </a:rPr>
              <a:t>Acknowledge complexity honestly</a:t>
            </a:r>
            <a:endParaRPr lang="en-US" sz="1100" dirty="0"/>
          </a:p>
          <a:p>
            <a:pPr marL="342900" indent="-342900">
              <a:buSzPct val="100000"/>
              <a:buChar char="•"/>
            </a:pPr>
            <a:r>
              <a:rPr lang="en-US" sz="1100" dirty="0">
                <a:solidFill>
                  <a:srgbClr val="1E293B"/>
                </a:solidFill>
                <a:latin typeface="Arial" pitchFamily="34" charset="0"/>
                <a:ea typeface="Arial" pitchFamily="34" charset="-122"/>
                <a:cs typeface="Arial" pitchFamily="34" charset="-120"/>
              </a:rPr>
              <a:t>Focus on practical benefits</a:t>
            </a:r>
            <a:endParaRPr lang="en-US" sz="1100" dirty="0"/>
          </a:p>
        </p:txBody>
      </p:sp>
      <p:sp>
        <p:nvSpPr>
          <p:cNvPr id="25" name="Text 23"/>
          <p:cNvSpPr/>
          <p:nvPr/>
        </p:nvSpPr>
        <p:spPr>
          <a:xfrm>
            <a:off x="4846320" y="3566160"/>
            <a:ext cx="3840480" cy="320040"/>
          </a:xfrm>
          <a:prstGeom prst="rect">
            <a:avLst/>
          </a:prstGeom>
          <a:noFill/>
          <a:ln/>
        </p:spPr>
        <p:txBody>
          <a:bodyPr wrap="square" rtlCol="0" anchor="ctr"/>
          <a:lstStyle/>
          <a:p>
            <a:pPr indent="0" marL="0">
              <a:buNone/>
            </a:pPr>
            <a:r>
              <a:rPr lang="en-US" sz="1400" b="1" dirty="0">
                <a:solidFill>
                  <a:srgbClr val="EF4444"/>
                </a:solidFill>
                <a:latin typeface="Arial" pitchFamily="34" charset="0"/>
                <a:ea typeface="Arial" pitchFamily="34" charset="-122"/>
                <a:cs typeface="Arial" pitchFamily="34" charset="-120"/>
              </a:rPr>
              <a:t>Don't</a:t>
            </a:r>
            <a:endParaRPr lang="en-US" sz="1400" dirty="0"/>
          </a:p>
        </p:txBody>
      </p:sp>
      <p:sp>
        <p:nvSpPr>
          <p:cNvPr id="26" name="Text 24"/>
          <p:cNvSpPr/>
          <p:nvPr/>
        </p:nvSpPr>
        <p:spPr>
          <a:xfrm>
            <a:off x="4846320" y="3886200"/>
            <a:ext cx="3840480" cy="1097280"/>
          </a:xfrm>
          <a:prstGeom prst="rect">
            <a:avLst/>
          </a:prstGeom>
          <a:noFill/>
          <a:ln/>
        </p:spPr>
        <p:txBody>
          <a:bodyPr wrap="square" rtlCol="0" anchor="ctr"/>
          <a:lstStyle/>
          <a:p>
            <a:pPr marL="342900" indent="-342900">
              <a:buSzPct val="100000"/>
              <a:buChar char="•"/>
            </a:pPr>
            <a:r>
              <a:rPr lang="en-US" sz="1100" dirty="0">
                <a:solidFill>
                  <a:srgbClr val="1E293B"/>
                </a:solidFill>
                <a:latin typeface="Arial" pitchFamily="34" charset="0"/>
                <a:ea typeface="Arial" pitchFamily="34" charset="-122"/>
                <a:cs typeface="Arial" pitchFamily="34" charset="-120"/>
              </a:rPr>
              <a:t>Use "tariff" or "rate" alone</a:t>
            </a:r>
            <a:endParaRPr lang="en-US" sz="1100" dirty="0"/>
          </a:p>
          <a:p>
            <a:pPr marL="342900" indent="-342900">
              <a:buSzPct val="100000"/>
              <a:buChar char="•"/>
            </a:pPr>
            <a:r>
              <a:rPr lang="en-US" sz="1100" dirty="0">
                <a:solidFill>
                  <a:srgbClr val="1E293B"/>
                </a:solidFill>
                <a:latin typeface="Arial" pitchFamily="34" charset="0"/>
                <a:ea typeface="Arial" pitchFamily="34" charset="-122"/>
                <a:cs typeface="Arial" pitchFamily="34" charset="-120"/>
              </a:rPr>
              <a:t>Oversimplify (rate plans are complex)</a:t>
            </a:r>
            <a:endParaRPr lang="en-US" sz="1100" dirty="0"/>
          </a:p>
          <a:p>
            <a:pPr marL="342900" indent="-342900">
              <a:buSzPct val="100000"/>
              <a:buChar char="•"/>
            </a:pPr>
            <a:r>
              <a:rPr lang="en-US" sz="1100" dirty="0">
                <a:solidFill>
                  <a:srgbClr val="1E293B"/>
                </a:solidFill>
                <a:latin typeface="Arial" pitchFamily="34" charset="0"/>
                <a:ea typeface="Arial" pitchFamily="34" charset="-122"/>
                <a:cs typeface="Arial" pitchFamily="34" charset="-120"/>
              </a:rPr>
              <a:t>Use hyperbolic language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3200" b="1" dirty="0">
                <a:solidFill>
                  <a:srgbClr val="1E293B"/>
                </a:solidFill>
                <a:latin typeface="Arial" pitchFamily="34" charset="0"/>
                <a:ea typeface="Arial" pitchFamily="34" charset="-122"/>
                <a:cs typeface="Arial" pitchFamily="34" charset="-120"/>
              </a:rPr>
              <a:t>Boilerplate Text</a:t>
            </a:r>
            <a:endParaRPr lang="en-US" sz="3200" dirty="0"/>
          </a:p>
        </p:txBody>
      </p:sp>
      <p:sp>
        <p:nvSpPr>
          <p:cNvPr id="3" name="Shape 1"/>
          <p:cNvSpPr/>
          <p:nvPr/>
        </p:nvSpPr>
        <p:spPr>
          <a:xfrm>
            <a:off x="457200" y="1005840"/>
            <a:ext cx="8229600" cy="777240"/>
          </a:xfrm>
          <a:prstGeom prst="rect">
            <a:avLst/>
          </a:prstGeom>
          <a:solidFill>
            <a:srgbClr val="F8FAFC"/>
          </a:solidFill>
          <a:ln/>
        </p:spPr>
      </p:sp>
      <p:sp>
        <p:nvSpPr>
          <p:cNvPr id="4" name="Text 2"/>
          <p:cNvSpPr/>
          <p:nvPr/>
        </p:nvSpPr>
        <p:spPr>
          <a:xfrm>
            <a:off x="640080" y="1051560"/>
            <a:ext cx="1828800" cy="274320"/>
          </a:xfrm>
          <a:prstGeom prst="rect">
            <a:avLst/>
          </a:prstGeom>
          <a:noFill/>
          <a:ln/>
        </p:spPr>
        <p:txBody>
          <a:bodyPr wrap="square" rtlCol="0" anchor="ctr"/>
          <a:lstStyle/>
          <a:p>
            <a:pPr indent="0" marL="0">
              <a:buNone/>
            </a:pPr>
            <a:r>
              <a:rPr lang="en-US" sz="1000" b="1" dirty="0">
                <a:solidFill>
                  <a:srgbClr val="44BB99"/>
                </a:solidFill>
                <a:latin typeface="Arial" pitchFamily="34" charset="0"/>
                <a:ea typeface="Arial" pitchFamily="34" charset="-122"/>
                <a:cs typeface="Arial" pitchFamily="34" charset="-120"/>
              </a:rPr>
              <a:t>One-liner (25 words)</a:t>
            </a:r>
            <a:endParaRPr lang="en-US" sz="1000" dirty="0"/>
          </a:p>
        </p:txBody>
      </p:sp>
      <p:sp>
        <p:nvSpPr>
          <p:cNvPr id="5" name="Text 3"/>
          <p:cNvSpPr/>
          <p:nvPr/>
        </p:nvSpPr>
        <p:spPr>
          <a:xfrm>
            <a:off x="640080" y="1325880"/>
            <a:ext cx="7863840" cy="411480"/>
          </a:xfrm>
          <a:prstGeom prst="rect">
            <a:avLst/>
          </a:prstGeom>
          <a:noFill/>
          <a:ln/>
        </p:spPr>
        <p:txBody>
          <a:bodyPr wrap="square" rtlCol="0" anchor="ctr"/>
          <a:lstStyle/>
          <a:p>
            <a:pPr indent="0" marL="0">
              <a:buNone/>
            </a:pPr>
            <a:r>
              <a:rPr lang="en-US" sz="1200" dirty="0">
                <a:solidFill>
                  <a:srgbClr val="1E293B"/>
                </a:solidFill>
                <a:latin typeface="Arial" pitchFamily="34" charset="0"/>
                <a:ea typeface="Arial" pitchFamily="34" charset="-122"/>
                <a:cs typeface="Arial" pitchFamily="34" charset="-120"/>
              </a:rPr>
              <a:t>URPX is an open standard for exchanging machine-readable utility rate plan data, enabling transparent energy pricing across the industry.</a:t>
            </a:r>
            <a:endParaRPr lang="en-US" sz="1200" dirty="0"/>
          </a:p>
        </p:txBody>
      </p:sp>
      <p:sp>
        <p:nvSpPr>
          <p:cNvPr id="6" name="Shape 4"/>
          <p:cNvSpPr/>
          <p:nvPr/>
        </p:nvSpPr>
        <p:spPr>
          <a:xfrm>
            <a:off x="457200" y="1920240"/>
            <a:ext cx="8229600" cy="1005840"/>
          </a:xfrm>
          <a:prstGeom prst="rect">
            <a:avLst/>
          </a:prstGeom>
          <a:solidFill>
            <a:srgbClr val="F8FAFC"/>
          </a:solidFill>
          <a:ln/>
        </p:spPr>
      </p:sp>
      <p:sp>
        <p:nvSpPr>
          <p:cNvPr id="7" name="Text 5"/>
          <p:cNvSpPr/>
          <p:nvPr/>
        </p:nvSpPr>
        <p:spPr>
          <a:xfrm>
            <a:off x="640080" y="1965960"/>
            <a:ext cx="1828800" cy="274320"/>
          </a:xfrm>
          <a:prstGeom prst="rect">
            <a:avLst/>
          </a:prstGeom>
          <a:noFill/>
          <a:ln/>
        </p:spPr>
        <p:txBody>
          <a:bodyPr wrap="square" rtlCol="0" anchor="ctr"/>
          <a:lstStyle/>
          <a:p>
            <a:pPr indent="0" marL="0">
              <a:buNone/>
            </a:pPr>
            <a:r>
              <a:rPr lang="en-US" sz="1000" b="1" dirty="0">
                <a:solidFill>
                  <a:srgbClr val="44BB99"/>
                </a:solidFill>
                <a:latin typeface="Arial" pitchFamily="34" charset="0"/>
                <a:ea typeface="Arial" pitchFamily="34" charset="-122"/>
                <a:cs typeface="Arial" pitchFamily="34" charset="-120"/>
              </a:rPr>
              <a:t>Short (50 words)</a:t>
            </a:r>
            <a:endParaRPr lang="en-US" sz="1000" dirty="0"/>
          </a:p>
        </p:txBody>
      </p:sp>
      <p:sp>
        <p:nvSpPr>
          <p:cNvPr id="8" name="Text 6"/>
          <p:cNvSpPr/>
          <p:nvPr/>
        </p:nvSpPr>
        <p:spPr>
          <a:xfrm>
            <a:off x="640080" y="2240280"/>
            <a:ext cx="7863840" cy="640080"/>
          </a:xfrm>
          <a:prstGeom prst="rect">
            <a:avLst/>
          </a:prstGeom>
          <a:noFill/>
          <a:ln/>
        </p:spPr>
        <p:txBody>
          <a:bodyPr wrap="square" rtlCol="0" anchor="ctr"/>
          <a:lstStyle/>
          <a:p>
            <a:pPr indent="0" marL="0">
              <a:buNone/>
            </a:pPr>
            <a:r>
              <a:rPr lang="en-US" sz="1100" dirty="0">
                <a:solidFill>
                  <a:srgbClr val="1E293B"/>
                </a:solidFill>
                <a:latin typeface="Arial" pitchFamily="34" charset="0"/>
                <a:ea typeface="Arial" pitchFamily="34" charset="-122"/>
                <a:cs typeface="Arial" pitchFamily="34" charset="-120"/>
              </a:rPr>
              <a:t>URPX (Utility Rate Plan Exchange) is an open standard for machine-readable utility rate plan data. Built on semantic web technologies, URPX acts as the switchboard for transforming flat rate plan data into structured formats with executable cost modeling instructions. Hosted by LF Energy Standards and Specifications.</a:t>
            </a:r>
            <a:endParaRPr lang="en-US" sz="1100" dirty="0"/>
          </a:p>
        </p:txBody>
      </p:sp>
      <p:sp>
        <p:nvSpPr>
          <p:cNvPr id="9" name="Shape 7"/>
          <p:cNvSpPr/>
          <p:nvPr/>
        </p:nvSpPr>
        <p:spPr>
          <a:xfrm>
            <a:off x="457200" y="3063240"/>
            <a:ext cx="8229600" cy="1371600"/>
          </a:xfrm>
          <a:prstGeom prst="rect">
            <a:avLst/>
          </a:prstGeom>
          <a:solidFill>
            <a:srgbClr val="F8FAFC"/>
          </a:solidFill>
          <a:ln/>
        </p:spPr>
      </p:sp>
      <p:sp>
        <p:nvSpPr>
          <p:cNvPr id="10" name="Text 8"/>
          <p:cNvSpPr/>
          <p:nvPr/>
        </p:nvSpPr>
        <p:spPr>
          <a:xfrm>
            <a:off x="640080" y="3108960"/>
            <a:ext cx="1828800" cy="274320"/>
          </a:xfrm>
          <a:prstGeom prst="rect">
            <a:avLst/>
          </a:prstGeom>
          <a:noFill/>
          <a:ln/>
        </p:spPr>
        <p:txBody>
          <a:bodyPr wrap="square" rtlCol="0" anchor="ctr"/>
          <a:lstStyle/>
          <a:p>
            <a:pPr indent="0" marL="0">
              <a:buNone/>
            </a:pPr>
            <a:r>
              <a:rPr lang="en-US" sz="1000" b="1" dirty="0">
                <a:solidFill>
                  <a:srgbClr val="44BB99"/>
                </a:solidFill>
                <a:latin typeface="Arial" pitchFamily="34" charset="0"/>
                <a:ea typeface="Arial" pitchFamily="34" charset="-122"/>
                <a:cs typeface="Arial" pitchFamily="34" charset="-120"/>
              </a:rPr>
              <a:t>Medium (100 words)</a:t>
            </a:r>
            <a:endParaRPr lang="en-US" sz="1000" dirty="0"/>
          </a:p>
        </p:txBody>
      </p:sp>
      <p:sp>
        <p:nvSpPr>
          <p:cNvPr id="11" name="Text 9"/>
          <p:cNvSpPr/>
          <p:nvPr/>
        </p:nvSpPr>
        <p:spPr>
          <a:xfrm>
            <a:off x="640080" y="3383280"/>
            <a:ext cx="7863840" cy="1005840"/>
          </a:xfrm>
          <a:prstGeom prst="rect">
            <a:avLst/>
          </a:prstGeom>
          <a:noFill/>
          <a:ln/>
        </p:spPr>
        <p:txBody>
          <a:bodyPr wrap="square" rtlCol="0" anchor="ctr"/>
          <a:lstStyle/>
          <a:p>
            <a:pPr indent="0" marL="0">
              <a:buNone/>
            </a:pPr>
            <a:r>
              <a:rPr lang="en-US" sz="1000" dirty="0">
                <a:solidFill>
                  <a:srgbClr val="1E293B"/>
                </a:solidFill>
                <a:latin typeface="Arial" pitchFamily="34" charset="0"/>
                <a:ea typeface="Arial" pitchFamily="34" charset="-122"/>
                <a:cs typeface="Arial" pitchFamily="34" charset="-120"/>
              </a:rPr>
              <a:t>URPX (Utility Rate Plan Exchange) is an open standard that enables transparent, machine-readable utility rate plan data exchange. While standards exist for customer usage data and grid operations, no comprehensive standard previously existed for the rate plan data that determines how customers are charged. Built on W3C semantic web technologies (RDF, OWL, SHACL), URPX provides a rich ontology for representing everything from simple flat-rate plans to complex time-of-use structures. Led by Flux Tailor with NLR collaboration, URPX is hosted by LF Energy Standards and Specifications (LFESS).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0" y="731520"/>
            <a:ext cx="4572000" cy="1143000"/>
          </a:xfrm>
          <a:prstGeom prst="rect">
            <a:avLst/>
          </a:prstGeom>
        </p:spPr>
      </p:pic>
      <p:sp>
        <p:nvSpPr>
          <p:cNvPr id="3" name="Text 0"/>
          <p:cNvSpPr/>
          <p:nvPr/>
        </p:nvSpPr>
        <p:spPr>
          <a:xfrm>
            <a:off x="457200" y="2103120"/>
            <a:ext cx="8229600" cy="54864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Resources &amp; Contact</a:t>
            </a:r>
            <a:endParaRPr lang="en-US" sz="2800" dirty="0"/>
          </a:p>
        </p:txBody>
      </p:sp>
      <p:sp>
        <p:nvSpPr>
          <p:cNvPr id="4" name="Text 1"/>
          <p:cNvSpPr/>
          <p:nvPr/>
        </p:nvSpPr>
        <p:spPr>
          <a:xfrm>
            <a:off x="1828800" y="2743200"/>
            <a:ext cx="2286000" cy="411480"/>
          </a:xfrm>
          <a:prstGeom prst="rect">
            <a:avLst/>
          </a:prstGeom>
          <a:noFill/>
          <a:ln/>
        </p:spPr>
        <p:txBody>
          <a:bodyPr wrap="square" rtlCol="0" anchor="ctr"/>
          <a:lstStyle/>
          <a:p>
            <a:pPr algn="r" indent="0" marL="0">
              <a:buNone/>
            </a:pPr>
            <a:r>
              <a:rPr lang="en-US" sz="1300" dirty="0">
                <a:solidFill>
                  <a:srgbClr val="44BB99"/>
                </a:solidFill>
                <a:latin typeface="Arial" pitchFamily="34" charset="0"/>
                <a:ea typeface="Arial" pitchFamily="34" charset="-122"/>
                <a:cs typeface="Arial" pitchFamily="34" charset="-120"/>
              </a:rPr>
              <a:t>Working Group</a:t>
            </a:r>
            <a:endParaRPr lang="en-US" sz="1300" dirty="0"/>
          </a:p>
        </p:txBody>
      </p:sp>
      <p:sp>
        <p:nvSpPr>
          <p:cNvPr id="5" name="Text 2"/>
          <p:cNvSpPr/>
          <p:nvPr/>
        </p:nvSpPr>
        <p:spPr>
          <a:xfrm>
            <a:off x="4297680" y="2743200"/>
            <a:ext cx="3200400" cy="41148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lfess.energy</a:t>
            </a:r>
            <a:endParaRPr lang="en-US" sz="1300" dirty="0"/>
          </a:p>
        </p:txBody>
      </p:sp>
      <p:sp>
        <p:nvSpPr>
          <p:cNvPr id="6" name="Text 3"/>
          <p:cNvSpPr/>
          <p:nvPr/>
        </p:nvSpPr>
        <p:spPr>
          <a:xfrm>
            <a:off x="1828800" y="3246120"/>
            <a:ext cx="2286000" cy="411480"/>
          </a:xfrm>
          <a:prstGeom prst="rect">
            <a:avLst/>
          </a:prstGeom>
          <a:noFill/>
          <a:ln/>
        </p:spPr>
        <p:txBody>
          <a:bodyPr wrap="square" rtlCol="0" anchor="ctr"/>
          <a:lstStyle/>
          <a:p>
            <a:pPr algn="r" indent="0" marL="0">
              <a:buNone/>
            </a:pPr>
            <a:r>
              <a:rPr lang="en-US" sz="1300" dirty="0">
                <a:solidFill>
                  <a:srgbClr val="44BB99"/>
                </a:solidFill>
                <a:latin typeface="Arial" pitchFamily="34" charset="0"/>
                <a:ea typeface="Arial" pitchFamily="34" charset="-122"/>
                <a:cs typeface="Arial" pitchFamily="34" charset="-120"/>
              </a:rPr>
              <a:t>Project Lead</a:t>
            </a:r>
            <a:endParaRPr lang="en-US" sz="1300" dirty="0"/>
          </a:p>
        </p:txBody>
      </p:sp>
      <p:sp>
        <p:nvSpPr>
          <p:cNvPr id="7" name="Text 4"/>
          <p:cNvSpPr/>
          <p:nvPr/>
        </p:nvSpPr>
        <p:spPr>
          <a:xfrm>
            <a:off x="4297680" y="3246120"/>
            <a:ext cx="3200400" cy="41148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fluxtailor.com</a:t>
            </a:r>
            <a:endParaRPr lang="en-US" sz="1300" dirty="0"/>
          </a:p>
        </p:txBody>
      </p:sp>
      <p:sp>
        <p:nvSpPr>
          <p:cNvPr id="8" name="Text 5"/>
          <p:cNvSpPr/>
          <p:nvPr/>
        </p:nvSpPr>
        <p:spPr>
          <a:xfrm>
            <a:off x="1828800" y="3749040"/>
            <a:ext cx="2286000" cy="411480"/>
          </a:xfrm>
          <a:prstGeom prst="rect">
            <a:avLst/>
          </a:prstGeom>
          <a:noFill/>
          <a:ln/>
        </p:spPr>
        <p:txBody>
          <a:bodyPr wrap="square" rtlCol="0" anchor="ctr"/>
          <a:lstStyle/>
          <a:p>
            <a:pPr algn="r" indent="0" marL="0">
              <a:buNone/>
            </a:pPr>
            <a:r>
              <a:rPr lang="en-US" sz="1300" dirty="0">
                <a:solidFill>
                  <a:srgbClr val="44BB99"/>
                </a:solidFill>
                <a:latin typeface="Arial" pitchFamily="34" charset="0"/>
                <a:ea typeface="Arial" pitchFamily="34" charset="-122"/>
                <a:cs typeface="Arial" pitchFamily="34" charset="-120"/>
              </a:rPr>
              <a:t>GitHub</a:t>
            </a:r>
            <a:endParaRPr lang="en-US" sz="1300" dirty="0"/>
          </a:p>
        </p:txBody>
      </p:sp>
      <p:sp>
        <p:nvSpPr>
          <p:cNvPr id="9" name="Text 6"/>
          <p:cNvSpPr/>
          <p:nvPr/>
        </p:nvSpPr>
        <p:spPr>
          <a:xfrm>
            <a:off x="4297680" y="3749040"/>
            <a:ext cx="3200400" cy="41148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github.com/lf-energy/tac/issues/600</a:t>
            </a:r>
            <a:endParaRPr lang="en-US" sz="1300" dirty="0"/>
          </a:p>
        </p:txBody>
      </p:sp>
      <p:sp>
        <p:nvSpPr>
          <p:cNvPr id="10" name="Text 7"/>
          <p:cNvSpPr/>
          <p:nvPr/>
        </p:nvSpPr>
        <p:spPr>
          <a:xfrm>
            <a:off x="1828800" y="4251960"/>
            <a:ext cx="2286000" cy="411480"/>
          </a:xfrm>
          <a:prstGeom prst="rect">
            <a:avLst/>
          </a:prstGeom>
          <a:noFill/>
          <a:ln/>
        </p:spPr>
        <p:txBody>
          <a:bodyPr wrap="square" rtlCol="0" anchor="ctr"/>
          <a:lstStyle/>
          <a:p>
            <a:pPr algn="r" indent="0" marL="0">
              <a:buNone/>
            </a:pPr>
            <a:r>
              <a:rPr lang="en-US" sz="1300" dirty="0">
                <a:solidFill>
                  <a:srgbClr val="44BB99"/>
                </a:solidFill>
                <a:latin typeface="Arial" pitchFamily="34" charset="0"/>
                <a:ea typeface="Arial" pitchFamily="34" charset="-122"/>
                <a:cs typeface="Arial" pitchFamily="34" charset="-120"/>
              </a:rPr>
              <a:t>Contact</a:t>
            </a:r>
            <a:endParaRPr lang="en-US" sz="1300" dirty="0"/>
          </a:p>
        </p:txBody>
      </p:sp>
      <p:sp>
        <p:nvSpPr>
          <p:cNvPr id="11" name="Text 8"/>
          <p:cNvSpPr/>
          <p:nvPr/>
        </p:nvSpPr>
        <p:spPr>
          <a:xfrm>
            <a:off x="4297680" y="4251960"/>
            <a:ext cx="3200400" cy="41148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Klaar De Schepper, Flux Tailor</a:t>
            </a:r>
            <a:endParaRPr lang="en-US" sz="1300" dirty="0"/>
          </a:p>
        </p:txBody>
      </p:sp>
      <p:sp>
        <p:nvSpPr>
          <p:cNvPr id="12" name="Text 9"/>
          <p:cNvSpPr/>
          <p:nvPr/>
        </p:nvSpPr>
        <p:spPr>
          <a:xfrm>
            <a:off x="457200" y="4663440"/>
            <a:ext cx="8229600" cy="274320"/>
          </a:xfrm>
          <a:prstGeom prst="rect">
            <a:avLst/>
          </a:prstGeom>
          <a:noFill/>
          <a:ln/>
        </p:spPr>
        <p:txBody>
          <a:bodyPr wrap="square"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 2026 Flux Tailor LLC · Licensed under Apache 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URPX Brand Guidelines</dc:title>
  <dc:subject>Brand Identity Standards for Utility Rate Plan Exchange</dc:subject>
  <dc:creator>Flux Tailor LLC</dc:creator>
  <cp:lastModifiedBy>Flux Tailor LLC</cp:lastModifiedBy>
  <cp:revision>1</cp:revision>
  <dcterms:created xsi:type="dcterms:W3CDTF">2026-02-03T03:26:11Z</dcterms:created>
  <dcterms:modified xsi:type="dcterms:W3CDTF">2026-02-03T03:26:11Z</dcterms:modified>
</cp:coreProperties>
</file>